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556500" cy="10693400"/>
  <p:notesSz cx="6858000" cy="9144000"/>
  <p:embeddedFontLst>
    <p:embeddedFont>
      <p:font typeface="Atkinson Hyperlegible Bold" panose="020B0604020202020204" charset="0"/>
      <p:regular r:id="rId13"/>
    </p:embeddedFont>
    <p:embeddedFont>
      <p:font typeface="Atkinson Hyperlegible Italic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  <p:embeddedFont>
      <p:font typeface="Poppins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F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608" y="-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sv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4.sv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.sv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.svg"/><Relationship Id="rId7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071008"/>
            <a:ext cx="7560000" cy="4620992"/>
            <a:chOff x="0" y="0"/>
            <a:chExt cx="3068148" cy="1875382"/>
          </a:xfrm>
          <a:solidFill>
            <a:srgbClr val="A2BFC8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3068148" cy="1875382"/>
            </a:xfrm>
            <a:custGeom>
              <a:avLst/>
              <a:gdLst/>
              <a:ahLst/>
              <a:cxnLst/>
              <a:rect l="l" t="t" r="r" b="b"/>
              <a:pathLst>
                <a:path w="3068148" h="1875382">
                  <a:moveTo>
                    <a:pt x="0" y="0"/>
                  </a:moveTo>
                  <a:lnTo>
                    <a:pt x="3068148" y="0"/>
                  </a:lnTo>
                  <a:lnTo>
                    <a:pt x="3068148" y="1875382"/>
                  </a:lnTo>
                  <a:lnTo>
                    <a:pt x="0" y="1875382"/>
                  </a:lnTo>
                  <a:close/>
                </a:path>
              </a:pathLst>
            </a:custGeom>
            <a:grpFill/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068148" cy="1884907"/>
            </a:xfrm>
            <a:prstGeom prst="rect">
              <a:avLst/>
            </a:prstGeom>
            <a:grpFill/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 dirty="0"/>
            </a:p>
          </p:txBody>
        </p:sp>
      </p:grpSp>
      <p:sp>
        <p:nvSpPr>
          <p:cNvPr id="5" name="AutoShape 5"/>
          <p:cNvSpPr/>
          <p:nvPr/>
        </p:nvSpPr>
        <p:spPr>
          <a:xfrm>
            <a:off x="4327182" y="9405439"/>
            <a:ext cx="3229318" cy="511006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6" name="Group 6"/>
          <p:cNvGrpSpPr/>
          <p:nvPr/>
        </p:nvGrpSpPr>
        <p:grpSpPr>
          <a:xfrm>
            <a:off x="0" y="4412818"/>
            <a:ext cx="4094860" cy="548782"/>
            <a:chOff x="0" y="0"/>
            <a:chExt cx="1565610" cy="196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65610" cy="196671"/>
            </a:xfrm>
            <a:custGeom>
              <a:avLst/>
              <a:gdLst/>
              <a:ahLst/>
              <a:cxnLst/>
              <a:rect l="l" t="t" r="r" b="b"/>
              <a:pathLst>
                <a:path w="1565610" h="196671">
                  <a:moveTo>
                    <a:pt x="0" y="0"/>
                  </a:moveTo>
                  <a:lnTo>
                    <a:pt x="1565610" y="0"/>
                  </a:lnTo>
                  <a:lnTo>
                    <a:pt x="1565610" y="196671"/>
                  </a:lnTo>
                  <a:lnTo>
                    <a:pt x="0" y="196671"/>
                  </a:lnTo>
                  <a:close/>
                </a:path>
              </a:pathLst>
            </a:custGeom>
            <a:solidFill>
              <a:srgbClr val="231076"/>
            </a:solidFill>
            <a:ln w="9525" cap="sq">
              <a:solidFill>
                <a:srgbClr val="28094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565610" cy="206196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5360514" y="6426786"/>
            <a:ext cx="1722097" cy="1621702"/>
          </a:xfrm>
          <a:custGeom>
            <a:avLst/>
            <a:gdLst/>
            <a:ahLst/>
            <a:cxnLst/>
            <a:rect l="l" t="t" r="r" b="b"/>
            <a:pathLst>
              <a:path w="1722097" h="1621702">
                <a:moveTo>
                  <a:pt x="0" y="0"/>
                </a:moveTo>
                <a:lnTo>
                  <a:pt x="1722097" y="0"/>
                </a:lnTo>
                <a:lnTo>
                  <a:pt x="1722097" y="1621702"/>
                </a:lnTo>
                <a:lnTo>
                  <a:pt x="0" y="162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2" b="-15302"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Freeform 10"/>
          <p:cNvSpPr/>
          <p:nvPr/>
        </p:nvSpPr>
        <p:spPr>
          <a:xfrm>
            <a:off x="819813" y="676869"/>
            <a:ext cx="417146" cy="368070"/>
          </a:xfrm>
          <a:custGeom>
            <a:avLst/>
            <a:gdLst/>
            <a:ahLst/>
            <a:cxnLst/>
            <a:rect l="l" t="t" r="r" b="b"/>
            <a:pathLst>
              <a:path w="417146" h="368070">
                <a:moveTo>
                  <a:pt x="0" y="0"/>
                </a:moveTo>
                <a:lnTo>
                  <a:pt x="417146" y="0"/>
                </a:lnTo>
                <a:lnTo>
                  <a:pt x="417146" y="368070"/>
                </a:lnTo>
                <a:lnTo>
                  <a:pt x="0" y="368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7279" y="1035414"/>
            <a:ext cx="1810090" cy="12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3"/>
              </a:lnSpc>
            </a:pPr>
            <a:r>
              <a:rPr lang="en-US" sz="75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ALUNZA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9813" y="2249062"/>
            <a:ext cx="3982690" cy="69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8"/>
              </a:lnSpc>
            </a:pPr>
            <a:r>
              <a:rPr lang="en-US" sz="5268" b="1" dirty="0">
                <a:solidFill>
                  <a:srgbClr val="18257E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Manual 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16" y="4501471"/>
            <a:ext cx="133523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2333" i="1" dirty="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SAM V1.0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20894" y="9412997"/>
            <a:ext cx="2822873" cy="48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412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Elaborado</a:t>
            </a:r>
            <a:r>
              <a:rPr lang="en-US" sz="141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por </a:t>
            </a:r>
            <a:r>
              <a:rPr lang="en-US" sz="1412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41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12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</a:t>
            </a:r>
            <a:r>
              <a:rPr lang="en-US" sz="141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412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Investigación</a:t>
            </a:r>
            <a:r>
              <a:rPr lang="en-US" sz="141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Desarrollo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599" y="2967386"/>
            <a:ext cx="6283013" cy="153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24"/>
              </a:lnSpc>
            </a:pPr>
            <a:r>
              <a:rPr lang="en-US" sz="11524" b="1">
                <a:solidFill>
                  <a:srgbClr val="18257E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usuario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2938" y="774188"/>
            <a:ext cx="1681062" cy="17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77"/>
              </a:lnSpc>
            </a:pPr>
            <a:r>
              <a:rPr lang="en-US" sz="116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ENERO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5159535"/>
            <a:ext cx="632661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3"/>
              </a:lnSpc>
              <a:spcBef>
                <a:spcPct val="0"/>
              </a:spcBef>
            </a:pPr>
            <a:r>
              <a:rPr lang="es-MX" sz="1019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el presente documento se detallan los pasos para el uso del programa de automatización de mensajes vía WhatsApp. Para cualquier duda o aclaración, por favor comuníquese con el equipo de Investigación y Desarrollo.</a:t>
            </a:r>
            <a:endParaRPr lang="en-US" sz="1019" dirty="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9850" y="6222968"/>
            <a:ext cx="4074371" cy="187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90"/>
              </a:lnSpc>
            </a:pPr>
            <a:r>
              <a:rPr lang="en-US" sz="3099" b="1" spc="55">
                <a:solidFill>
                  <a:srgbClr val="F8F5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3099" b="1" spc="55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istema de </a:t>
            </a:r>
            <a:r>
              <a:rPr lang="en-US" sz="3099" b="1" spc="55">
                <a:solidFill>
                  <a:srgbClr val="F8F5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3099" b="1" spc="55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utomatización de </a:t>
            </a:r>
            <a:r>
              <a:rPr lang="en-US" sz="3099" b="1" spc="55">
                <a:solidFill>
                  <a:srgbClr val="FBFBF9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sz="3099" b="1" spc="55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ensajes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355" y="244994"/>
            <a:ext cx="1700304" cy="355452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3" name="Freeform 3"/>
          <p:cNvSpPr/>
          <p:nvPr/>
        </p:nvSpPr>
        <p:spPr>
          <a:xfrm>
            <a:off x="4067223" y="9043898"/>
            <a:ext cx="222028" cy="222028"/>
          </a:xfrm>
          <a:custGeom>
            <a:avLst/>
            <a:gdLst/>
            <a:ahLst/>
            <a:cxnLst/>
            <a:rect l="l" t="t" r="r" b="b"/>
            <a:pathLst>
              <a:path w="222028" h="222028">
                <a:moveTo>
                  <a:pt x="0" y="0"/>
                </a:moveTo>
                <a:lnTo>
                  <a:pt x="222028" y="0"/>
                </a:lnTo>
                <a:lnTo>
                  <a:pt x="222028" y="222028"/>
                </a:lnTo>
                <a:lnTo>
                  <a:pt x="0" y="2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5116" y="276910"/>
            <a:ext cx="1463833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CONTENIDO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5116" y="725008"/>
            <a:ext cx="7251872" cy="5155092"/>
            <a:chOff x="0" y="0"/>
            <a:chExt cx="2943097" cy="18753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Freeform 6"/>
            <p:cNvSpPr/>
            <p:nvPr/>
          </p:nvSpPr>
          <p:spPr>
            <a:xfrm>
              <a:off x="0" y="0"/>
              <a:ext cx="2943097" cy="1875382"/>
            </a:xfrm>
            <a:custGeom>
              <a:avLst/>
              <a:gdLst/>
              <a:ahLst/>
              <a:cxnLst/>
              <a:rect l="l" t="t" r="r" b="b"/>
              <a:pathLst>
                <a:path w="2943097" h="1875382">
                  <a:moveTo>
                    <a:pt x="0" y="0"/>
                  </a:moveTo>
                  <a:lnTo>
                    <a:pt x="2943097" y="0"/>
                  </a:lnTo>
                  <a:lnTo>
                    <a:pt x="2943097" y="1875382"/>
                  </a:lnTo>
                  <a:lnTo>
                    <a:pt x="0" y="1875382"/>
                  </a:lnTo>
                  <a:close/>
                </a:path>
              </a:pathLst>
            </a:custGeom>
            <a:solidFill>
              <a:srgbClr val="A2BFC8"/>
            </a:solidFill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943097" cy="1884907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53803" y="802321"/>
            <a:ext cx="6318606" cy="494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general.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Iniciar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sesión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Cerrar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sesión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Programación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envíos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marL="871335" lvl="2" indent="-290445" algn="l">
              <a:lnSpc>
                <a:spcPts val="3914"/>
              </a:lnSpc>
              <a:buFont typeface="Arial"/>
              <a:buChar char="⚬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Validación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grupos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marL="871335" lvl="2" indent="-290445" algn="l">
              <a:lnSpc>
                <a:spcPts val="3914"/>
              </a:lnSpc>
              <a:buFont typeface="Arial"/>
              <a:buChar char="⚬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Configurar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notificaciones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 </a:t>
            </a: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notificaciones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Generar</a:t>
            </a: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claves.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Actualizaciones.</a:t>
            </a:r>
          </a:p>
          <a:p>
            <a:pPr marL="435667" lvl="1" indent="-217834" algn="l">
              <a:lnSpc>
                <a:spcPts val="3914"/>
              </a:lnSpc>
              <a:buFont typeface="Arial"/>
              <a:buChar char="•"/>
            </a:pPr>
            <a:r>
              <a:rPr lang="en-US" sz="2017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Extras.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355" y="244994"/>
            <a:ext cx="2409217" cy="403478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6" name="Group 6"/>
          <p:cNvGrpSpPr/>
          <p:nvPr/>
        </p:nvGrpSpPr>
        <p:grpSpPr>
          <a:xfrm>
            <a:off x="4576278" y="3716488"/>
            <a:ext cx="2983722" cy="5318783"/>
            <a:chOff x="0" y="0"/>
            <a:chExt cx="1210912" cy="21585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0912" cy="2158573"/>
            </a:xfrm>
            <a:custGeom>
              <a:avLst/>
              <a:gdLst/>
              <a:ahLst/>
              <a:cxnLst/>
              <a:rect l="l" t="t" r="r" b="b"/>
              <a:pathLst>
                <a:path w="1210912" h="2158573">
                  <a:moveTo>
                    <a:pt x="0" y="0"/>
                  </a:moveTo>
                  <a:lnTo>
                    <a:pt x="1210912" y="0"/>
                  </a:lnTo>
                  <a:lnTo>
                    <a:pt x="1210912" y="2158573"/>
                  </a:lnTo>
                  <a:lnTo>
                    <a:pt x="0" y="2158573"/>
                  </a:lnTo>
                  <a:close/>
                </a:path>
              </a:pathLst>
            </a:custGeom>
            <a:solidFill>
              <a:srgbClr val="BAC2CF"/>
            </a:solidFill>
            <a:ln w="9525" cap="sq">
              <a:solidFill>
                <a:srgbClr val="BAC2C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210912" cy="2168098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 rot="-5400000">
            <a:off x="2268257" y="-1598724"/>
            <a:ext cx="3023485" cy="7560000"/>
            <a:chOff x="0" y="0"/>
            <a:chExt cx="1246943" cy="306814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1246943" cy="3068148"/>
            </a:xfrm>
            <a:custGeom>
              <a:avLst/>
              <a:gdLst/>
              <a:ahLst/>
              <a:cxnLst/>
              <a:rect l="l" t="t" r="r" b="b"/>
              <a:pathLst>
                <a:path w="1246943" h="3068148">
                  <a:moveTo>
                    <a:pt x="0" y="0"/>
                  </a:moveTo>
                  <a:lnTo>
                    <a:pt x="1246943" y="0"/>
                  </a:lnTo>
                  <a:lnTo>
                    <a:pt x="1246943" y="3068148"/>
                  </a:lnTo>
                  <a:lnTo>
                    <a:pt x="0" y="3068148"/>
                  </a:lnTo>
                  <a:close/>
                </a:path>
              </a:pathLst>
            </a:custGeom>
            <a:solidFill>
              <a:srgbClr val="FBFBF9"/>
            </a:solidFill>
            <a:ln w="9525" cap="sq">
              <a:solidFill>
                <a:srgbClr val="FBFBF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246943" cy="3077673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577073" y="3729877"/>
            <a:ext cx="1999205" cy="5318783"/>
            <a:chOff x="0" y="0"/>
            <a:chExt cx="811357" cy="21585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1357" cy="2158573"/>
            </a:xfrm>
            <a:custGeom>
              <a:avLst/>
              <a:gdLst/>
              <a:ahLst/>
              <a:cxnLst/>
              <a:rect l="l" t="t" r="r" b="b"/>
              <a:pathLst>
                <a:path w="811357" h="2158573">
                  <a:moveTo>
                    <a:pt x="0" y="0"/>
                  </a:moveTo>
                  <a:lnTo>
                    <a:pt x="811357" y="0"/>
                  </a:lnTo>
                  <a:lnTo>
                    <a:pt x="811357" y="2158573"/>
                  </a:lnTo>
                  <a:lnTo>
                    <a:pt x="0" y="2158573"/>
                  </a:lnTo>
                  <a:close/>
                </a:path>
              </a:pathLst>
            </a:custGeom>
            <a:solidFill>
              <a:srgbClr val="E3F1E6"/>
            </a:solidFill>
            <a:ln w="9525" cap="sq">
              <a:solidFill>
                <a:srgbClr val="E3F1E6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811357" cy="2168098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0398" y="969778"/>
            <a:ext cx="5519204" cy="2659469"/>
          </a:xfrm>
          <a:custGeom>
            <a:avLst/>
            <a:gdLst/>
            <a:ahLst/>
            <a:cxnLst/>
            <a:rect l="l" t="t" r="r" b="b"/>
            <a:pathLst>
              <a:path w="5519204" h="2659469">
                <a:moveTo>
                  <a:pt x="0" y="0"/>
                </a:moveTo>
                <a:lnTo>
                  <a:pt x="5519204" y="0"/>
                </a:lnTo>
                <a:lnTo>
                  <a:pt x="5519204" y="2659469"/>
                </a:lnTo>
                <a:lnTo>
                  <a:pt x="0" y="2659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4" t="-2949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-1" y="3729877"/>
            <a:ext cx="2577073" cy="5318783"/>
            <a:chOff x="0" y="0"/>
            <a:chExt cx="1143627" cy="215857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3627" cy="2158573"/>
            </a:xfrm>
            <a:custGeom>
              <a:avLst/>
              <a:gdLst/>
              <a:ahLst/>
              <a:cxnLst/>
              <a:rect l="l" t="t" r="r" b="b"/>
              <a:pathLst>
                <a:path w="1143627" h="2158573">
                  <a:moveTo>
                    <a:pt x="0" y="0"/>
                  </a:moveTo>
                  <a:lnTo>
                    <a:pt x="1143627" y="0"/>
                  </a:lnTo>
                  <a:lnTo>
                    <a:pt x="1143627" y="2158573"/>
                  </a:lnTo>
                  <a:lnTo>
                    <a:pt x="0" y="2158573"/>
                  </a:lnTo>
                  <a:close/>
                </a:path>
              </a:pathLst>
            </a:custGeom>
            <a:solidFill>
              <a:srgbClr val="A2BFC8"/>
            </a:solidFill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143627" cy="2168098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3572" y="3805172"/>
            <a:ext cx="2365338" cy="3081656"/>
          </a:xfrm>
          <a:custGeom>
            <a:avLst/>
            <a:gdLst/>
            <a:ahLst/>
            <a:cxnLst/>
            <a:rect l="l" t="t" r="r" b="b"/>
            <a:pathLst>
              <a:path w="2365338" h="3081656">
                <a:moveTo>
                  <a:pt x="0" y="0"/>
                </a:moveTo>
                <a:lnTo>
                  <a:pt x="2365338" y="0"/>
                </a:lnTo>
                <a:lnTo>
                  <a:pt x="2365338" y="3081656"/>
                </a:lnTo>
                <a:lnTo>
                  <a:pt x="0" y="3081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13" b="-1513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699069" y="3804323"/>
            <a:ext cx="1739925" cy="2972068"/>
          </a:xfrm>
          <a:custGeom>
            <a:avLst/>
            <a:gdLst/>
            <a:ahLst/>
            <a:cxnLst/>
            <a:rect l="l" t="t" r="r" b="b"/>
            <a:pathLst>
              <a:path w="1739925" h="2972068">
                <a:moveTo>
                  <a:pt x="0" y="0"/>
                </a:moveTo>
                <a:lnTo>
                  <a:pt x="1739925" y="0"/>
                </a:lnTo>
                <a:lnTo>
                  <a:pt x="1739925" y="2972069"/>
                </a:lnTo>
                <a:lnTo>
                  <a:pt x="0" y="2972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6" t="-813" r="-1047" b="-502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695341" y="3805172"/>
            <a:ext cx="2775393" cy="2570708"/>
          </a:xfrm>
          <a:custGeom>
            <a:avLst/>
            <a:gdLst/>
            <a:ahLst/>
            <a:cxnLst/>
            <a:rect l="l" t="t" r="r" b="b"/>
            <a:pathLst>
              <a:path w="2775393" h="2570708">
                <a:moveTo>
                  <a:pt x="0" y="0"/>
                </a:moveTo>
                <a:lnTo>
                  <a:pt x="2775393" y="0"/>
                </a:lnTo>
                <a:lnTo>
                  <a:pt x="2775393" y="2570708"/>
                </a:lnTo>
                <a:lnTo>
                  <a:pt x="0" y="2570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695341" y="6476966"/>
            <a:ext cx="2775393" cy="843026"/>
          </a:xfrm>
          <a:custGeom>
            <a:avLst/>
            <a:gdLst/>
            <a:ahLst/>
            <a:cxnLst/>
            <a:rect l="l" t="t" r="r" b="b"/>
            <a:pathLst>
              <a:path w="2775393" h="843026">
                <a:moveTo>
                  <a:pt x="0" y="0"/>
                </a:moveTo>
                <a:lnTo>
                  <a:pt x="2775393" y="0"/>
                </a:lnTo>
                <a:lnTo>
                  <a:pt x="2775393" y="843025"/>
                </a:lnTo>
                <a:lnTo>
                  <a:pt x="0" y="843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65116" y="276910"/>
            <a:ext cx="2172747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Descripción general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21417" y="736950"/>
            <a:ext cx="1717166" cy="16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"/>
              </a:lnSpc>
              <a:spcBef>
                <a:spcPct val="0"/>
              </a:spcBef>
            </a:pP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Ventana principal de SAM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013" y="6906784"/>
            <a:ext cx="2388897" cy="195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74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Estado de conexión.</a:t>
            </a:r>
          </a:p>
          <a:p>
            <a:pPr algn="just">
              <a:lnSpc>
                <a:spcPts val="1310"/>
              </a:lnSpc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Muestra si el programa está conectado o no con la cuenta del usuario con el cual se inició la sesión. En verde está conectado, en naranja está conectando y en rojo no está conectado.</a:t>
            </a:r>
          </a:p>
          <a:p>
            <a:pPr algn="just">
              <a:lnSpc>
                <a:spcPts val="1310"/>
              </a:lnSpc>
            </a:pPr>
            <a:endParaRPr lang="en-US" sz="1074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1310"/>
              </a:lnSpc>
            </a:pPr>
            <a:r>
              <a:rPr lang="en-US" sz="1074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Estado de notificaciones.</a:t>
            </a:r>
          </a:p>
          <a:p>
            <a:pPr algn="just">
              <a:lnSpc>
                <a:spcPts val="1310"/>
              </a:lnSpc>
              <a:spcBef>
                <a:spcPct val="0"/>
              </a:spcBef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Muestra el nombre del usuario/grupo al cual llegaran los avisos del programa.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86611" y="6906784"/>
            <a:ext cx="1770605" cy="179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Side bar de acciones rapidas.</a:t>
            </a:r>
          </a:p>
          <a:p>
            <a:pPr algn="just">
              <a:lnSpc>
                <a:spcPts val="1305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Estan las opciones de: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Generar claves.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Test de envio rápido.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Configuración de notificaciones.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Nuevo QR.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Envíos programados.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Modo claro/obscuro.</a:t>
            </a:r>
          </a:p>
          <a:p>
            <a:pPr marL="231014" lvl="1" indent="-115507" algn="just">
              <a:lnSpc>
                <a:spcPts val="1305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Cierre de sesión.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95341" y="7405716"/>
            <a:ext cx="2775393" cy="114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74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Programación de envíos.</a:t>
            </a:r>
          </a:p>
          <a:p>
            <a:pPr marL="231988" lvl="1" indent="-115994" algn="just">
              <a:lnSpc>
                <a:spcPts val="1310"/>
              </a:lnSpc>
              <a:buFont typeface="Arial"/>
              <a:buChar char="•"/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Contiene la sección de adjuntar imagen.</a:t>
            </a:r>
          </a:p>
          <a:p>
            <a:pPr marL="231988" lvl="1" indent="-115994" algn="just">
              <a:lnSpc>
                <a:spcPts val="1310"/>
              </a:lnSpc>
              <a:buFont typeface="Arial"/>
              <a:buChar char="•"/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Mensaje.</a:t>
            </a:r>
          </a:p>
          <a:p>
            <a:pPr marL="231988" lvl="1" indent="-115994" algn="just">
              <a:lnSpc>
                <a:spcPts val="1310"/>
              </a:lnSpc>
              <a:buFont typeface="Arial"/>
              <a:buChar char="•"/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Grupos/usuarios.</a:t>
            </a:r>
          </a:p>
          <a:p>
            <a:pPr marL="231988" lvl="1" indent="-115994" algn="just">
              <a:lnSpc>
                <a:spcPts val="1310"/>
              </a:lnSpc>
              <a:buFont typeface="Arial"/>
              <a:buChar char="•"/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Validador de grupos/usuarios.</a:t>
            </a:r>
          </a:p>
          <a:p>
            <a:pPr marL="231988" lvl="1" indent="-115994" algn="just">
              <a:lnSpc>
                <a:spcPts val="1310"/>
              </a:lnSpc>
              <a:buFont typeface="Arial"/>
              <a:buChar char="•"/>
            </a:pPr>
            <a:r>
              <a:rPr lang="en-US" sz="1074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Fecha y hora para el envío.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1439" y="9589776"/>
            <a:ext cx="5297123" cy="34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El uso de la aplicacion se describe en las siguintes paginas, la vista general es una forma para familiarizarse con el programa en sus primeros usos.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355" y="244994"/>
            <a:ext cx="2198738" cy="400302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3" name="Group 3"/>
          <p:cNvGrpSpPr/>
          <p:nvPr/>
        </p:nvGrpSpPr>
        <p:grpSpPr>
          <a:xfrm rot="-5400000">
            <a:off x="2450453" y="4507086"/>
            <a:ext cx="2659094" cy="7560000"/>
            <a:chOff x="0" y="0"/>
            <a:chExt cx="1079166" cy="3068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1079166" cy="3068148"/>
            </a:xfrm>
            <a:custGeom>
              <a:avLst/>
              <a:gdLst/>
              <a:ahLst/>
              <a:cxnLst/>
              <a:rect l="l" t="t" r="r" b="b"/>
              <a:pathLst>
                <a:path w="1079166" h="3068148">
                  <a:moveTo>
                    <a:pt x="0" y="0"/>
                  </a:moveTo>
                  <a:lnTo>
                    <a:pt x="1079166" y="0"/>
                  </a:lnTo>
                  <a:lnTo>
                    <a:pt x="1079166" y="3068148"/>
                  </a:lnTo>
                  <a:lnTo>
                    <a:pt x="0" y="3068148"/>
                  </a:lnTo>
                  <a:close/>
                </a:path>
              </a:pathLst>
            </a:custGeom>
            <a:solidFill>
              <a:srgbClr val="E3F1E6"/>
            </a:solidFill>
            <a:ln w="9525" cap="sq">
              <a:solidFill>
                <a:srgbClr val="E3F1E6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79166" cy="3077673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2450453" y="-125037"/>
            <a:ext cx="2659094" cy="7560000"/>
            <a:chOff x="0" y="0"/>
            <a:chExt cx="1079166" cy="3068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166" cy="3068148"/>
            </a:xfrm>
            <a:custGeom>
              <a:avLst/>
              <a:gdLst/>
              <a:ahLst/>
              <a:cxnLst/>
              <a:rect l="l" t="t" r="r" b="b"/>
              <a:pathLst>
                <a:path w="1079166" h="3068148">
                  <a:moveTo>
                    <a:pt x="0" y="0"/>
                  </a:moveTo>
                  <a:lnTo>
                    <a:pt x="1079166" y="0"/>
                  </a:lnTo>
                  <a:lnTo>
                    <a:pt x="1079166" y="3068148"/>
                  </a:lnTo>
                  <a:lnTo>
                    <a:pt x="0" y="3068148"/>
                  </a:lnTo>
                  <a:close/>
                </a:path>
              </a:pathLst>
            </a:custGeom>
            <a:solidFill>
              <a:srgbClr val="FBFBF9"/>
            </a:solidFill>
            <a:ln w="9525" cap="sq">
              <a:solidFill>
                <a:srgbClr val="FBFBF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079166" cy="3077673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37427" y="2481195"/>
            <a:ext cx="2368987" cy="2476020"/>
          </a:xfrm>
          <a:custGeom>
            <a:avLst/>
            <a:gdLst/>
            <a:ahLst/>
            <a:cxnLst/>
            <a:rect l="l" t="t" r="r" b="b"/>
            <a:pathLst>
              <a:path w="2368987" h="2476020">
                <a:moveTo>
                  <a:pt x="0" y="0"/>
                </a:moveTo>
                <a:lnTo>
                  <a:pt x="2368987" y="0"/>
                </a:lnTo>
                <a:lnTo>
                  <a:pt x="2368987" y="2476020"/>
                </a:lnTo>
                <a:lnTo>
                  <a:pt x="0" y="2476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001243" y="2508490"/>
            <a:ext cx="1937485" cy="2476020"/>
          </a:xfrm>
          <a:custGeom>
            <a:avLst/>
            <a:gdLst/>
            <a:ahLst/>
            <a:cxnLst/>
            <a:rect l="l" t="t" r="r" b="b"/>
            <a:pathLst>
              <a:path w="1937485" h="2476020">
                <a:moveTo>
                  <a:pt x="0" y="0"/>
                </a:moveTo>
                <a:lnTo>
                  <a:pt x="1937485" y="0"/>
                </a:lnTo>
                <a:lnTo>
                  <a:pt x="1937485" y="2476019"/>
                </a:lnTo>
                <a:lnTo>
                  <a:pt x="0" y="247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504729" y="2325416"/>
            <a:ext cx="403371" cy="4033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35357" y="2325416"/>
            <a:ext cx="403371" cy="40337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2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5031871" y="2523486"/>
            <a:ext cx="2384235" cy="2391438"/>
          </a:xfrm>
          <a:custGeom>
            <a:avLst/>
            <a:gdLst/>
            <a:ahLst/>
            <a:cxnLst/>
            <a:rect l="l" t="t" r="r" b="b"/>
            <a:pathLst>
              <a:path w="2384235" h="2391438">
                <a:moveTo>
                  <a:pt x="0" y="0"/>
                </a:moveTo>
                <a:lnTo>
                  <a:pt x="2384235" y="0"/>
                </a:lnTo>
                <a:lnTo>
                  <a:pt x="2384235" y="2391438"/>
                </a:lnTo>
                <a:lnTo>
                  <a:pt x="0" y="2391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012736" y="2325416"/>
            <a:ext cx="403371" cy="40337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43894" y="7139879"/>
            <a:ext cx="2281657" cy="1205850"/>
          </a:xfrm>
          <a:custGeom>
            <a:avLst/>
            <a:gdLst/>
            <a:ahLst/>
            <a:cxnLst/>
            <a:rect l="l" t="t" r="r" b="b"/>
            <a:pathLst>
              <a:path w="2281657" h="1205850">
                <a:moveTo>
                  <a:pt x="0" y="0"/>
                </a:moveTo>
                <a:lnTo>
                  <a:pt x="2281656" y="0"/>
                </a:lnTo>
                <a:lnTo>
                  <a:pt x="2281656" y="1205850"/>
                </a:lnTo>
                <a:lnTo>
                  <a:pt x="0" y="1205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" t="-13036" r="-2952" b="-66353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72470" y="8412404"/>
            <a:ext cx="3639805" cy="1130817"/>
          </a:xfrm>
          <a:custGeom>
            <a:avLst/>
            <a:gdLst/>
            <a:ahLst/>
            <a:cxnLst/>
            <a:rect l="l" t="t" r="r" b="b"/>
            <a:pathLst>
              <a:path w="3639805" h="1130817">
                <a:moveTo>
                  <a:pt x="0" y="0"/>
                </a:moveTo>
                <a:lnTo>
                  <a:pt x="3639805" y="0"/>
                </a:lnTo>
                <a:lnTo>
                  <a:pt x="3639805" y="1130817"/>
                </a:lnTo>
                <a:lnTo>
                  <a:pt x="0" y="1130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64" r="-853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535357" y="7081364"/>
            <a:ext cx="2218776" cy="2535269"/>
          </a:xfrm>
          <a:custGeom>
            <a:avLst/>
            <a:gdLst/>
            <a:ahLst/>
            <a:cxnLst/>
            <a:rect l="l" t="t" r="r" b="b"/>
            <a:pathLst>
              <a:path w="2218776" h="2535269">
                <a:moveTo>
                  <a:pt x="0" y="0"/>
                </a:moveTo>
                <a:lnTo>
                  <a:pt x="2218777" y="0"/>
                </a:lnTo>
                <a:lnTo>
                  <a:pt x="2218777" y="2535269"/>
                </a:lnTo>
                <a:lnTo>
                  <a:pt x="0" y="2535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4662" y="276910"/>
            <a:ext cx="2022721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ININICAR SESIÓN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894" y="612897"/>
            <a:ext cx="7272213" cy="160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Al abrir por primera vez el programa, en la sección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estado de conexión 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comienza a cargar el código QR. </a:t>
            </a: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El usuario deberá: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Abrir la app de Whatsapp desde su móvil.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Vincular nuevo dispositivo.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Escanear el código QR en pantalla.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Nota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: el código QR es dinámico, por lo cual cambia cada cierto tiempo. La primera vez suele tardar un poco en iniciar la sesión.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3894" y="5146434"/>
            <a:ext cx="7272213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Cuando se inicie la sesión correctamente aparecerán las notificaciones de que todo está correcto como se aprecia en la imagen #3.</a:t>
            </a:r>
          </a:p>
        </p:txBody>
      </p:sp>
      <p:sp>
        <p:nvSpPr>
          <p:cNvPr id="27" name="AutoShape 27"/>
          <p:cNvSpPr/>
          <p:nvPr/>
        </p:nvSpPr>
        <p:spPr>
          <a:xfrm>
            <a:off x="152" y="5787391"/>
            <a:ext cx="2198738" cy="400302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28" name="TextBox 28"/>
          <p:cNvSpPr txBox="1"/>
          <p:nvPr/>
        </p:nvSpPr>
        <p:spPr>
          <a:xfrm>
            <a:off x="176169" y="5819306"/>
            <a:ext cx="2022721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CERRAR SESIÓN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662" y="6202283"/>
            <a:ext cx="7272213" cy="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caso de existir una sesión activa de otro usuario o simplemente desean cambiar de usuario, usando cerrar sesión puede volver a realizar el proceso anterior, únicamente le pedirá confirmar si desea cerrar la sesión.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198890" y="7043264"/>
            <a:ext cx="403371" cy="40337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66615" y="8210718"/>
            <a:ext cx="403371" cy="403371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77663" y="6957539"/>
            <a:ext cx="403371" cy="40337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76169" y="9813991"/>
            <a:ext cx="7272213" cy="42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0"/>
              </a:lnSpc>
            </a:pPr>
            <a:r>
              <a:rPr lang="en-US" sz="11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Nota</a:t>
            </a: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: al iniciar sesión una vez, </a:t>
            </a:r>
            <a:r>
              <a:rPr lang="en-US" sz="11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 necesita hacerlo de nuevo</a:t>
            </a: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, las sesiones se guardan y cada vez que abra el programa lo hará con la sesión iniciada en veces anteriores.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355" y="244994"/>
            <a:ext cx="2504869" cy="581664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3" name="Freeform 3"/>
          <p:cNvSpPr/>
          <p:nvPr/>
        </p:nvSpPr>
        <p:spPr>
          <a:xfrm>
            <a:off x="4067223" y="9043898"/>
            <a:ext cx="222028" cy="222028"/>
          </a:xfrm>
          <a:custGeom>
            <a:avLst/>
            <a:gdLst/>
            <a:ahLst/>
            <a:cxnLst/>
            <a:rect l="l" t="t" r="r" b="b"/>
            <a:pathLst>
              <a:path w="222028" h="222028">
                <a:moveTo>
                  <a:pt x="0" y="0"/>
                </a:moveTo>
                <a:lnTo>
                  <a:pt x="222028" y="0"/>
                </a:lnTo>
                <a:lnTo>
                  <a:pt x="222028" y="222028"/>
                </a:lnTo>
                <a:lnTo>
                  <a:pt x="0" y="2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-998798" y="5913202"/>
            <a:ext cx="5777597" cy="3780000"/>
            <a:chOff x="0" y="0"/>
            <a:chExt cx="2344778" cy="15340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Freeform 5"/>
            <p:cNvSpPr/>
            <p:nvPr/>
          </p:nvSpPr>
          <p:spPr>
            <a:xfrm>
              <a:off x="0" y="0"/>
              <a:ext cx="2344778" cy="1534074"/>
            </a:xfrm>
            <a:custGeom>
              <a:avLst/>
              <a:gdLst/>
              <a:ahLst/>
              <a:cxnLst/>
              <a:rect l="l" t="t" r="r" b="b"/>
              <a:pathLst>
                <a:path w="2344778" h="1534074">
                  <a:moveTo>
                    <a:pt x="0" y="0"/>
                  </a:moveTo>
                  <a:lnTo>
                    <a:pt x="2344778" y="0"/>
                  </a:lnTo>
                  <a:lnTo>
                    <a:pt x="2344778" y="1534074"/>
                  </a:lnTo>
                  <a:lnTo>
                    <a:pt x="0" y="1534074"/>
                  </a:lnTo>
                  <a:close/>
                </a:path>
              </a:pathLst>
            </a:custGeom>
            <a:solidFill>
              <a:srgbClr val="72848E"/>
            </a:solidFill>
            <a:ln w="9525" cap="sq">
              <a:solidFill>
                <a:srgbClr val="72848E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344778" cy="1543599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0240" y="5019178"/>
            <a:ext cx="3629640" cy="2722230"/>
          </a:xfrm>
          <a:custGeom>
            <a:avLst/>
            <a:gdLst/>
            <a:ahLst/>
            <a:cxnLst/>
            <a:rect l="l" t="t" r="r" b="b"/>
            <a:pathLst>
              <a:path w="3629640" h="2722230">
                <a:moveTo>
                  <a:pt x="0" y="0"/>
                </a:moveTo>
                <a:lnTo>
                  <a:pt x="3629640" y="0"/>
                </a:lnTo>
                <a:lnTo>
                  <a:pt x="3629640" y="2722230"/>
                </a:lnTo>
                <a:lnTo>
                  <a:pt x="0" y="272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93492" y="8047869"/>
            <a:ext cx="3992429" cy="978145"/>
          </a:xfrm>
          <a:custGeom>
            <a:avLst/>
            <a:gdLst/>
            <a:ahLst/>
            <a:cxnLst/>
            <a:rect l="l" t="t" r="r" b="b"/>
            <a:pathLst>
              <a:path w="3992429" h="978145">
                <a:moveTo>
                  <a:pt x="0" y="0"/>
                </a:moveTo>
                <a:lnTo>
                  <a:pt x="3992429" y="0"/>
                </a:lnTo>
                <a:lnTo>
                  <a:pt x="3992429" y="978145"/>
                </a:lnTo>
                <a:lnTo>
                  <a:pt x="0" y="978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326509" y="4914403"/>
            <a:ext cx="403371" cy="40337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26509" y="7846183"/>
            <a:ext cx="403371" cy="40337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2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415645" y="5957068"/>
            <a:ext cx="2214726" cy="1352471"/>
          </a:xfrm>
          <a:custGeom>
            <a:avLst/>
            <a:gdLst/>
            <a:ahLst/>
            <a:cxnLst/>
            <a:rect l="l" t="t" r="r" b="b"/>
            <a:pathLst>
              <a:path w="2214726" h="1352471">
                <a:moveTo>
                  <a:pt x="0" y="0"/>
                </a:moveTo>
                <a:lnTo>
                  <a:pt x="2214727" y="0"/>
                </a:lnTo>
                <a:lnTo>
                  <a:pt x="2214727" y="1352471"/>
                </a:lnTo>
                <a:lnTo>
                  <a:pt x="0" y="1352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229180" y="9265926"/>
            <a:ext cx="4296404" cy="762612"/>
          </a:xfrm>
          <a:custGeom>
            <a:avLst/>
            <a:gdLst/>
            <a:ahLst/>
            <a:cxnLst/>
            <a:rect l="l" t="t" r="r" b="b"/>
            <a:pathLst>
              <a:path w="4296404" h="762612">
                <a:moveTo>
                  <a:pt x="0" y="0"/>
                </a:moveTo>
                <a:lnTo>
                  <a:pt x="4296403" y="0"/>
                </a:lnTo>
                <a:lnTo>
                  <a:pt x="4296403" y="762612"/>
                </a:lnTo>
                <a:lnTo>
                  <a:pt x="0" y="7626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428225" y="9064241"/>
            <a:ext cx="403371" cy="40337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5208973" y="9936000"/>
            <a:ext cx="628072" cy="700264"/>
          </a:xfrm>
          <a:custGeom>
            <a:avLst/>
            <a:gdLst/>
            <a:ahLst/>
            <a:cxnLst/>
            <a:rect l="l" t="t" r="r" b="b"/>
            <a:pathLst>
              <a:path w="628072" h="700264">
                <a:moveTo>
                  <a:pt x="0" y="0"/>
                </a:moveTo>
                <a:lnTo>
                  <a:pt x="628072" y="0"/>
                </a:lnTo>
                <a:lnTo>
                  <a:pt x="628072" y="700264"/>
                </a:lnTo>
                <a:lnTo>
                  <a:pt x="0" y="700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65116" y="276910"/>
            <a:ext cx="2957419" cy="54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PROGRAMACIÓN DE ENVÍOS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94" y="880718"/>
            <a:ext cx="7272213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Debe esperar a que en la sección de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Estado de conexión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muestre el mensaje: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“Ya se pueden programar envíos”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si no aparece, aún no se han cargado los chats de la cuenta y por ende no funcionará. 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Nota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: la primera vez siempre tarda un momento más en cargar los chats.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894" y="1731224"/>
            <a:ext cx="7272213" cy="318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469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Pasos.</a:t>
            </a:r>
          </a:p>
          <a:p>
            <a:pPr algn="ctr">
              <a:lnSpc>
                <a:spcPts val="2249"/>
              </a:lnSpc>
            </a:pPr>
            <a:endParaRPr lang="en-US" sz="1469" b="1">
              <a:solidFill>
                <a:srgbClr val="231076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Presione el botón o arrastre la imagen a la sección de seleccionar la imagen a enviar. Cambia a color verde si todo esta ok.</a:t>
            </a: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Escribir el mensaje que se envía junto a la imagen.</a:t>
            </a: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Ingrese los grupos separados por una coma, para asegurarse que están escritos correctamente, use el validador de grupos/usuarios.</a:t>
            </a: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Seleccione la fecha y hora a la que se enviara el mensaje. Tenga cuidado de seleccionar am o pm según lo necesite.</a:t>
            </a: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Configure las notificaciones.</a:t>
            </a: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Use el botón “Programar Envío”.</a:t>
            </a:r>
          </a:p>
          <a:p>
            <a:pPr marL="252603" lvl="1" indent="-126301" algn="just">
              <a:lnSpc>
                <a:spcPts val="1790"/>
              </a:lnSpc>
              <a:buAutoNum type="arabicPeriod"/>
            </a:pPr>
            <a:r>
              <a:rPr lang="en-US" sz="11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Revise en la sección “Envíos programados” de la barra lateral izquierda para ver los detalles del mensaje programado.</a:t>
            </a:r>
          </a:p>
          <a:p>
            <a:pPr algn="just">
              <a:lnSpc>
                <a:spcPts val="1790"/>
              </a:lnSpc>
            </a:pPr>
            <a:endParaRPr lang="en-US" sz="11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898937" y="4971553"/>
            <a:ext cx="3517169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Al seleccionar la imagen puede visualizar una notificación en la parte superior derecha con el nombre de la imagen, en color verde significa que todo esta ok.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29911" y="8124339"/>
            <a:ext cx="3786196" cy="202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El mensaje puede ser tan largo como desee.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98937" y="9133119"/>
            <a:ext cx="3517169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Los grupos deben estar escritos tal cual están registrados en la cuenta del usuario, si no esta seguro, verifique con el validador de grupos/usuarios que es el icono de la lupa.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67223" y="9373299"/>
            <a:ext cx="222028" cy="222028"/>
          </a:xfrm>
          <a:custGeom>
            <a:avLst/>
            <a:gdLst/>
            <a:ahLst/>
            <a:cxnLst/>
            <a:rect l="l" t="t" r="r" b="b"/>
            <a:pathLst>
              <a:path w="222028" h="222028">
                <a:moveTo>
                  <a:pt x="0" y="0"/>
                </a:moveTo>
                <a:lnTo>
                  <a:pt x="222028" y="0"/>
                </a:lnTo>
                <a:lnTo>
                  <a:pt x="222028" y="222028"/>
                </a:lnTo>
                <a:lnTo>
                  <a:pt x="0" y="2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-3037498" y="4203903"/>
            <a:ext cx="9854996" cy="3780000"/>
            <a:chOff x="0" y="0"/>
            <a:chExt cx="3999548" cy="15340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3999548" cy="1534074"/>
            </a:xfrm>
            <a:custGeom>
              <a:avLst/>
              <a:gdLst/>
              <a:ahLst/>
              <a:cxnLst/>
              <a:rect l="l" t="t" r="r" b="b"/>
              <a:pathLst>
                <a:path w="3999548" h="1534074">
                  <a:moveTo>
                    <a:pt x="0" y="0"/>
                  </a:moveTo>
                  <a:lnTo>
                    <a:pt x="3999548" y="0"/>
                  </a:lnTo>
                  <a:lnTo>
                    <a:pt x="3999548" y="1534074"/>
                  </a:lnTo>
                  <a:lnTo>
                    <a:pt x="0" y="1534074"/>
                  </a:lnTo>
                  <a:close/>
                </a:path>
              </a:pathLst>
            </a:custGeom>
            <a:solidFill>
              <a:srgbClr val="72848E"/>
            </a:solidFill>
            <a:ln w="9525" cap="sq">
              <a:solidFill>
                <a:srgbClr val="72848E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3999548" cy="1543599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71355" y="5052542"/>
            <a:ext cx="4092638" cy="656967"/>
          </a:xfrm>
          <a:custGeom>
            <a:avLst/>
            <a:gdLst/>
            <a:ahLst/>
            <a:cxnLst/>
            <a:rect l="l" t="t" r="r" b="b"/>
            <a:pathLst>
              <a:path w="4092638" h="656967">
                <a:moveTo>
                  <a:pt x="0" y="0"/>
                </a:moveTo>
                <a:lnTo>
                  <a:pt x="4092638" y="0"/>
                </a:lnTo>
                <a:lnTo>
                  <a:pt x="4092638" y="656967"/>
                </a:lnTo>
                <a:lnTo>
                  <a:pt x="0" y="656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36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599" y="1234288"/>
            <a:ext cx="3612264" cy="3513453"/>
          </a:xfrm>
          <a:custGeom>
            <a:avLst/>
            <a:gdLst/>
            <a:ahLst/>
            <a:cxnLst/>
            <a:rect l="l" t="t" r="r" b="b"/>
            <a:pathLst>
              <a:path w="3612264" h="3513453">
                <a:moveTo>
                  <a:pt x="0" y="0"/>
                </a:moveTo>
                <a:lnTo>
                  <a:pt x="3612264" y="0"/>
                </a:lnTo>
                <a:lnTo>
                  <a:pt x="3612264" y="3513454"/>
                </a:lnTo>
                <a:lnTo>
                  <a:pt x="0" y="351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0" r="-1530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76629" y="1032603"/>
            <a:ext cx="403371" cy="40337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4378403" y="3631364"/>
            <a:ext cx="2724738" cy="1116378"/>
          </a:xfrm>
          <a:custGeom>
            <a:avLst/>
            <a:gdLst/>
            <a:ahLst/>
            <a:cxnLst/>
            <a:rect l="l" t="t" r="r" b="b"/>
            <a:pathLst>
              <a:path w="2724738" h="1116378">
                <a:moveTo>
                  <a:pt x="0" y="0"/>
                </a:moveTo>
                <a:lnTo>
                  <a:pt x="2724737" y="0"/>
                </a:lnTo>
                <a:lnTo>
                  <a:pt x="2724737" y="1116378"/>
                </a:lnTo>
                <a:lnTo>
                  <a:pt x="0" y="1116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220" b="-522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921543" y="1845431"/>
            <a:ext cx="3538031" cy="818170"/>
          </a:xfrm>
          <a:custGeom>
            <a:avLst/>
            <a:gdLst/>
            <a:ahLst/>
            <a:cxnLst/>
            <a:rect l="l" t="t" r="r" b="b"/>
            <a:pathLst>
              <a:path w="3538031" h="818170">
                <a:moveTo>
                  <a:pt x="0" y="0"/>
                </a:moveTo>
                <a:lnTo>
                  <a:pt x="3538031" y="0"/>
                </a:lnTo>
                <a:lnTo>
                  <a:pt x="3538031" y="818169"/>
                </a:lnTo>
                <a:lnTo>
                  <a:pt x="0" y="818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599" y="6217646"/>
            <a:ext cx="3529786" cy="1118819"/>
          </a:xfrm>
          <a:custGeom>
            <a:avLst/>
            <a:gdLst/>
            <a:ahLst/>
            <a:cxnLst/>
            <a:rect l="l" t="t" r="r" b="b"/>
            <a:pathLst>
              <a:path w="3529786" h="1118819">
                <a:moveTo>
                  <a:pt x="0" y="0"/>
                </a:moveTo>
                <a:lnTo>
                  <a:pt x="3529786" y="0"/>
                </a:lnTo>
                <a:lnTo>
                  <a:pt x="3529786" y="1118820"/>
                </a:lnTo>
                <a:lnTo>
                  <a:pt x="0" y="11188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5" t="-46957" r="-1510" b="-69524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376629" y="4850856"/>
            <a:ext cx="403371" cy="40337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4615" y="5889572"/>
            <a:ext cx="3450771" cy="232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269" b="1">
                <a:solidFill>
                  <a:srgbClr val="F8F5FF"/>
                </a:solidFill>
                <a:latin typeface="Poppins Bold"/>
                <a:ea typeface="Poppins Bold"/>
                <a:cs typeface="Poppins Bold"/>
                <a:sym typeface="Poppins Bold"/>
              </a:rPr>
              <a:t>ESTOY EN LA BARRA LATERAL IZQUIERDA!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376629" y="5937197"/>
            <a:ext cx="403371" cy="40337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5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5599" y="7495874"/>
            <a:ext cx="3529786" cy="2744362"/>
          </a:xfrm>
          <a:custGeom>
            <a:avLst/>
            <a:gdLst/>
            <a:ahLst/>
            <a:cxnLst/>
            <a:rect l="l" t="t" r="r" b="b"/>
            <a:pathLst>
              <a:path w="3529786" h="2744362">
                <a:moveTo>
                  <a:pt x="0" y="0"/>
                </a:moveTo>
                <a:lnTo>
                  <a:pt x="3529786" y="0"/>
                </a:lnTo>
                <a:lnTo>
                  <a:pt x="3529786" y="2744363"/>
                </a:lnTo>
                <a:lnTo>
                  <a:pt x="0" y="2744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534710" y="8107692"/>
            <a:ext cx="2211272" cy="1681626"/>
          </a:xfrm>
          <a:custGeom>
            <a:avLst/>
            <a:gdLst/>
            <a:ahLst/>
            <a:cxnLst/>
            <a:rect l="l" t="t" r="r" b="b"/>
            <a:pathLst>
              <a:path w="2211272" h="1681626">
                <a:moveTo>
                  <a:pt x="0" y="0"/>
                </a:moveTo>
                <a:lnTo>
                  <a:pt x="2211272" y="0"/>
                </a:lnTo>
                <a:lnTo>
                  <a:pt x="2211272" y="1681626"/>
                </a:lnTo>
                <a:lnTo>
                  <a:pt x="0" y="1681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921543" y="1118780"/>
            <a:ext cx="3638457" cy="100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Encabezado 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Verde si todos los grupos se encontraron.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naranja si uno o más no se encontraron.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921543" y="2742997"/>
            <a:ext cx="3638457" cy="100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Colores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Azul para grupos.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Rojo para los chats no encontrados.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Morado para chats individuales.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821117" y="5117241"/>
            <a:ext cx="3638457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Seleccione fecha y hora, cuidando sean las que necesita.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21117" y="5982022"/>
            <a:ext cx="3638457" cy="120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Configuración de notificaciones.</a:t>
            </a:r>
          </a:p>
          <a:p>
            <a:pPr algn="ctr">
              <a:lnSpc>
                <a:spcPts val="1637"/>
              </a:lnSpc>
            </a:pPr>
            <a:endParaRPr lang="en-US" sz="1070" b="1">
              <a:solidFill>
                <a:srgbClr val="231076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Diríjase a la barra lateral izquierda y en la opción de notificaciones de click, eso le abrirá una ventana en la cual podrá ingresar el nombre del usuario/grupo que desee.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21117" y="7362186"/>
            <a:ext cx="3638457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Cuando presione el botón de “Guardar Configuración” Si el usuario/grupo es correcto se mostrará en color verde, si no, se muestra en color rojo.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21117" y="9819933"/>
            <a:ext cx="3638457" cy="60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Cuando se muestra en verde se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confirma 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que el usuario/grupo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recibirá 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las notificaciones y puede programar el envío.</a:t>
            </a:r>
          </a:p>
        </p:txBody>
      </p:sp>
      <p:sp>
        <p:nvSpPr>
          <p:cNvPr id="29" name="AutoShape 29"/>
          <p:cNvSpPr/>
          <p:nvPr/>
        </p:nvSpPr>
        <p:spPr>
          <a:xfrm>
            <a:off x="-71355" y="244994"/>
            <a:ext cx="2504869" cy="581664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30" name="TextBox 30"/>
          <p:cNvSpPr txBox="1"/>
          <p:nvPr/>
        </p:nvSpPr>
        <p:spPr>
          <a:xfrm>
            <a:off x="165116" y="276910"/>
            <a:ext cx="2957419" cy="54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PROGRAMACIÓN DE ENVÍOS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67223" y="9043898"/>
            <a:ext cx="222028" cy="222028"/>
          </a:xfrm>
          <a:custGeom>
            <a:avLst/>
            <a:gdLst/>
            <a:ahLst/>
            <a:cxnLst/>
            <a:rect l="l" t="t" r="r" b="b"/>
            <a:pathLst>
              <a:path w="222028" h="222028">
                <a:moveTo>
                  <a:pt x="0" y="0"/>
                </a:moveTo>
                <a:lnTo>
                  <a:pt x="222028" y="0"/>
                </a:lnTo>
                <a:lnTo>
                  <a:pt x="222028" y="222028"/>
                </a:lnTo>
                <a:lnTo>
                  <a:pt x="0" y="2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-1001607" y="1937094"/>
            <a:ext cx="5783214" cy="3780000"/>
            <a:chOff x="0" y="0"/>
            <a:chExt cx="2347058" cy="15340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2347058" cy="1534074"/>
            </a:xfrm>
            <a:custGeom>
              <a:avLst/>
              <a:gdLst/>
              <a:ahLst/>
              <a:cxnLst/>
              <a:rect l="l" t="t" r="r" b="b"/>
              <a:pathLst>
                <a:path w="2347058" h="1534074">
                  <a:moveTo>
                    <a:pt x="0" y="0"/>
                  </a:moveTo>
                  <a:lnTo>
                    <a:pt x="2347058" y="0"/>
                  </a:lnTo>
                  <a:lnTo>
                    <a:pt x="2347058" y="1534074"/>
                  </a:lnTo>
                  <a:lnTo>
                    <a:pt x="0" y="1534074"/>
                  </a:lnTo>
                  <a:close/>
                </a:path>
              </a:pathLst>
            </a:custGeom>
            <a:solidFill>
              <a:srgbClr val="72848E"/>
            </a:solidFill>
            <a:ln w="9525" cap="sq">
              <a:solidFill>
                <a:srgbClr val="72848E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347058" cy="1543599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7795" y="1003933"/>
            <a:ext cx="3624410" cy="1228575"/>
          </a:xfrm>
          <a:custGeom>
            <a:avLst/>
            <a:gdLst/>
            <a:ahLst/>
            <a:cxnLst/>
            <a:rect l="l" t="t" r="r" b="b"/>
            <a:pathLst>
              <a:path w="3624410" h="1228575">
                <a:moveTo>
                  <a:pt x="0" y="0"/>
                </a:moveTo>
                <a:lnTo>
                  <a:pt x="3624410" y="0"/>
                </a:lnTo>
                <a:lnTo>
                  <a:pt x="3624410" y="1228575"/>
                </a:lnTo>
                <a:lnTo>
                  <a:pt x="0" y="122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413" b="-1441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7795" y="2515341"/>
            <a:ext cx="3624410" cy="1125552"/>
          </a:xfrm>
          <a:custGeom>
            <a:avLst/>
            <a:gdLst/>
            <a:ahLst/>
            <a:cxnLst/>
            <a:rect l="l" t="t" r="r" b="b"/>
            <a:pathLst>
              <a:path w="3624410" h="1125552">
                <a:moveTo>
                  <a:pt x="0" y="0"/>
                </a:moveTo>
                <a:lnTo>
                  <a:pt x="3624410" y="0"/>
                </a:lnTo>
                <a:lnTo>
                  <a:pt x="3624410" y="1125553"/>
                </a:lnTo>
                <a:lnTo>
                  <a:pt x="0" y="1125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512" t="-14146" r="-13321" b="-40101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376629" y="2437255"/>
            <a:ext cx="403371" cy="40337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6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4984204" y="3253335"/>
            <a:ext cx="1468250" cy="387558"/>
          </a:xfrm>
          <a:custGeom>
            <a:avLst/>
            <a:gdLst/>
            <a:ahLst/>
            <a:cxnLst/>
            <a:rect l="l" t="t" r="r" b="b"/>
            <a:pathLst>
              <a:path w="1468250" h="387558">
                <a:moveTo>
                  <a:pt x="0" y="0"/>
                </a:moveTo>
                <a:lnTo>
                  <a:pt x="1468250" y="0"/>
                </a:lnTo>
                <a:lnTo>
                  <a:pt x="1468250" y="387559"/>
                </a:lnTo>
                <a:lnTo>
                  <a:pt x="0" y="387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" t="-11209" r="-6842" b="-6162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7795" y="4898424"/>
            <a:ext cx="3702205" cy="1820278"/>
          </a:xfrm>
          <a:custGeom>
            <a:avLst/>
            <a:gdLst/>
            <a:ahLst/>
            <a:cxnLst/>
            <a:rect l="l" t="t" r="r" b="b"/>
            <a:pathLst>
              <a:path w="3702205" h="1820278">
                <a:moveTo>
                  <a:pt x="0" y="0"/>
                </a:moveTo>
                <a:lnTo>
                  <a:pt x="3702205" y="0"/>
                </a:lnTo>
                <a:lnTo>
                  <a:pt x="3702205" y="1820277"/>
                </a:lnTo>
                <a:lnTo>
                  <a:pt x="0" y="1820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57" r="-55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795" y="4125412"/>
            <a:ext cx="3779171" cy="645682"/>
          </a:xfrm>
          <a:custGeom>
            <a:avLst/>
            <a:gdLst/>
            <a:ahLst/>
            <a:cxnLst/>
            <a:rect l="l" t="t" r="r" b="b"/>
            <a:pathLst>
              <a:path w="3779171" h="645682">
                <a:moveTo>
                  <a:pt x="0" y="0"/>
                </a:moveTo>
                <a:lnTo>
                  <a:pt x="3779171" y="0"/>
                </a:lnTo>
                <a:lnTo>
                  <a:pt x="3779171" y="645682"/>
                </a:lnTo>
                <a:lnTo>
                  <a:pt x="0" y="645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81" t="-42896" b="-58137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376629" y="3923727"/>
            <a:ext cx="403371" cy="40337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7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3962029" y="5943674"/>
            <a:ext cx="745987" cy="736778"/>
          </a:xfrm>
          <a:custGeom>
            <a:avLst/>
            <a:gdLst/>
            <a:ahLst/>
            <a:cxnLst/>
            <a:rect l="l" t="t" r="r" b="b"/>
            <a:pathLst>
              <a:path w="745987" h="736778">
                <a:moveTo>
                  <a:pt x="0" y="0"/>
                </a:moveTo>
                <a:lnTo>
                  <a:pt x="745987" y="0"/>
                </a:lnTo>
                <a:lnTo>
                  <a:pt x="745987" y="736777"/>
                </a:lnTo>
                <a:lnTo>
                  <a:pt x="0" y="7367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984204" y="5881448"/>
            <a:ext cx="2384123" cy="799003"/>
          </a:xfrm>
          <a:custGeom>
            <a:avLst/>
            <a:gdLst/>
            <a:ahLst/>
            <a:cxnLst/>
            <a:rect l="l" t="t" r="r" b="b"/>
            <a:pathLst>
              <a:path w="2384123" h="799003">
                <a:moveTo>
                  <a:pt x="0" y="0"/>
                </a:moveTo>
                <a:lnTo>
                  <a:pt x="2384123" y="0"/>
                </a:lnTo>
                <a:lnTo>
                  <a:pt x="2384123" y="799003"/>
                </a:lnTo>
                <a:lnTo>
                  <a:pt x="0" y="799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>
            <a:off x="-71355" y="244994"/>
            <a:ext cx="2504869" cy="581664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20" name="AutoShape 20"/>
          <p:cNvSpPr/>
          <p:nvPr/>
        </p:nvSpPr>
        <p:spPr>
          <a:xfrm>
            <a:off x="0" y="6917336"/>
            <a:ext cx="2261817" cy="581664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21" name="Group 21"/>
          <p:cNvGrpSpPr/>
          <p:nvPr/>
        </p:nvGrpSpPr>
        <p:grpSpPr>
          <a:xfrm rot="-5400000">
            <a:off x="2612820" y="5744820"/>
            <a:ext cx="2334360" cy="7560000"/>
            <a:chOff x="0" y="0"/>
            <a:chExt cx="947376" cy="30681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47376" cy="3068148"/>
            </a:xfrm>
            <a:custGeom>
              <a:avLst/>
              <a:gdLst/>
              <a:ahLst/>
              <a:cxnLst/>
              <a:rect l="l" t="t" r="r" b="b"/>
              <a:pathLst>
                <a:path w="947376" h="3068148">
                  <a:moveTo>
                    <a:pt x="0" y="0"/>
                  </a:moveTo>
                  <a:lnTo>
                    <a:pt x="947376" y="0"/>
                  </a:lnTo>
                  <a:lnTo>
                    <a:pt x="947376" y="3068148"/>
                  </a:lnTo>
                  <a:lnTo>
                    <a:pt x="0" y="3068148"/>
                  </a:lnTo>
                  <a:close/>
                </a:path>
              </a:pathLst>
            </a:custGeom>
            <a:solidFill>
              <a:srgbClr val="72848E"/>
            </a:solidFill>
            <a:ln w="9525" cap="sq">
              <a:solidFill>
                <a:srgbClr val="72848E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47376" cy="3077673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5047701" y="8446098"/>
            <a:ext cx="2083734" cy="2126029"/>
          </a:xfrm>
          <a:custGeom>
            <a:avLst/>
            <a:gdLst/>
            <a:ahLst/>
            <a:cxnLst/>
            <a:rect l="l" t="t" r="r" b="b"/>
            <a:pathLst>
              <a:path w="2083734" h="2126029">
                <a:moveTo>
                  <a:pt x="0" y="0"/>
                </a:moveTo>
                <a:lnTo>
                  <a:pt x="2083733" y="0"/>
                </a:lnTo>
                <a:lnTo>
                  <a:pt x="2083733" y="2126029"/>
                </a:lnTo>
                <a:lnTo>
                  <a:pt x="0" y="2126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5116" y="8446098"/>
            <a:ext cx="2164098" cy="2126029"/>
          </a:xfrm>
          <a:custGeom>
            <a:avLst/>
            <a:gdLst/>
            <a:ahLst/>
            <a:cxnLst/>
            <a:rect l="l" t="t" r="r" b="b"/>
            <a:pathLst>
              <a:path w="2164098" h="2126029">
                <a:moveTo>
                  <a:pt x="0" y="0"/>
                </a:moveTo>
                <a:lnTo>
                  <a:pt x="2164098" y="0"/>
                </a:lnTo>
                <a:lnTo>
                  <a:pt x="2164098" y="2126029"/>
                </a:lnTo>
                <a:lnTo>
                  <a:pt x="0" y="2126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603510" y="8446098"/>
            <a:ext cx="2169894" cy="2126029"/>
          </a:xfrm>
          <a:custGeom>
            <a:avLst/>
            <a:gdLst/>
            <a:ahLst/>
            <a:cxnLst/>
            <a:rect l="l" t="t" r="r" b="b"/>
            <a:pathLst>
              <a:path w="2169894" h="2126029">
                <a:moveTo>
                  <a:pt x="0" y="0"/>
                </a:moveTo>
                <a:lnTo>
                  <a:pt x="2169894" y="0"/>
                </a:lnTo>
                <a:lnTo>
                  <a:pt x="2169894" y="2126029"/>
                </a:lnTo>
                <a:lnTo>
                  <a:pt x="0" y="21260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856966" y="956308"/>
            <a:ext cx="3638457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pantalla principal se muestra que las notificaciones están activas,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indica que el usuario ya fue avisado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de que recibirá notificaciones de los envíos.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56966" y="2383779"/>
            <a:ext cx="3638457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¡Listo! puede programar el envío. Únicamente presione el botón “Programar Envío” y mostrara una notificación en la parte superior derecha de que ha sido programado.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56966" y="4059979"/>
            <a:ext cx="3638457" cy="180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Envíos programados</a:t>
            </a: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barra lateral izquierda, seleccione la opción “Envíos Programados” ahi le abrirá una ventana donde podrá visualizar los envíos programados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Cancelar envío.</a:t>
            </a: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Si necesita cancelar el envío solamente presione el boton rojo de “eliminar” y le pedirá una confirmación para cancelar el envío programado.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5116" y="276910"/>
            <a:ext cx="2957419" cy="54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PROGRAMACIÓN DE ENVÍOS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6017" y="6958776"/>
            <a:ext cx="2388579" cy="503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6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MODIFICAR NOTIFICACIONES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939" y="7546624"/>
            <a:ext cx="7290532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misma sección de configurar notificaciones: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Presione el botón de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modificar.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Edita el nombre del usuario/grupo.</a:t>
            </a:r>
          </a:p>
          <a:p>
            <a:pPr marL="231014" lvl="1" indent="-115507" algn="just">
              <a:lnSpc>
                <a:spcPts val="1637"/>
              </a:lnSpc>
              <a:buFont typeface="Arial"/>
              <a:buChar char="•"/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Presiona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 </a:t>
            </a: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nuevamente.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161225" y="8444755"/>
            <a:ext cx="403371" cy="403371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80833" y="8444755"/>
            <a:ext cx="403371" cy="40337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29749" y="8446098"/>
            <a:ext cx="403371" cy="40337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355" y="244994"/>
            <a:ext cx="2263664" cy="403126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3" name="Group 3"/>
          <p:cNvGrpSpPr/>
          <p:nvPr/>
        </p:nvGrpSpPr>
        <p:grpSpPr>
          <a:xfrm rot="-5400000">
            <a:off x="2729707" y="4569375"/>
            <a:ext cx="2077185" cy="7583400"/>
            <a:chOff x="0" y="0"/>
            <a:chExt cx="843004" cy="30776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843004" cy="3077644"/>
            </a:xfrm>
            <a:custGeom>
              <a:avLst/>
              <a:gdLst/>
              <a:ahLst/>
              <a:cxnLst/>
              <a:rect l="l" t="t" r="r" b="b"/>
              <a:pathLst>
                <a:path w="843004" h="3077644">
                  <a:moveTo>
                    <a:pt x="0" y="0"/>
                  </a:moveTo>
                  <a:lnTo>
                    <a:pt x="843004" y="0"/>
                  </a:lnTo>
                  <a:lnTo>
                    <a:pt x="843004" y="3077644"/>
                  </a:lnTo>
                  <a:lnTo>
                    <a:pt x="0" y="3077644"/>
                  </a:lnTo>
                  <a:close/>
                </a:path>
              </a:pathLst>
            </a:custGeom>
            <a:solidFill>
              <a:srgbClr val="91DEC4"/>
            </a:solidFill>
            <a:ln w="9525" cap="sq">
              <a:solidFill>
                <a:srgbClr val="91DEC4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843004" cy="3087169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77188" y="2633838"/>
            <a:ext cx="3934375" cy="3780000"/>
            <a:chOff x="0" y="0"/>
            <a:chExt cx="1596725" cy="15340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1596725" cy="1534074"/>
            </a:xfrm>
            <a:custGeom>
              <a:avLst/>
              <a:gdLst/>
              <a:ahLst/>
              <a:cxnLst/>
              <a:rect l="l" t="t" r="r" b="b"/>
              <a:pathLst>
                <a:path w="1596725" h="1534074">
                  <a:moveTo>
                    <a:pt x="0" y="0"/>
                  </a:moveTo>
                  <a:lnTo>
                    <a:pt x="1596725" y="0"/>
                  </a:lnTo>
                  <a:lnTo>
                    <a:pt x="1596725" y="1534074"/>
                  </a:lnTo>
                  <a:lnTo>
                    <a:pt x="0" y="1534074"/>
                  </a:lnTo>
                  <a:close/>
                </a:path>
              </a:pathLst>
            </a:custGeom>
            <a:solidFill>
              <a:srgbClr val="91DEC4"/>
            </a:solidFill>
            <a:ln w="9525" cap="sq">
              <a:solidFill>
                <a:srgbClr val="91DEC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596725" cy="1543599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3992" y="2651901"/>
            <a:ext cx="3643490" cy="894304"/>
          </a:xfrm>
          <a:custGeom>
            <a:avLst/>
            <a:gdLst/>
            <a:ahLst/>
            <a:cxnLst/>
            <a:rect l="l" t="t" r="r" b="b"/>
            <a:pathLst>
              <a:path w="3643490" h="894304">
                <a:moveTo>
                  <a:pt x="0" y="0"/>
                </a:moveTo>
                <a:lnTo>
                  <a:pt x="3643490" y="0"/>
                </a:lnTo>
                <a:lnTo>
                  <a:pt x="3643490" y="894304"/>
                </a:lnTo>
                <a:lnTo>
                  <a:pt x="0" y="894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322" r="-72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992" y="3688894"/>
            <a:ext cx="3643490" cy="1041877"/>
          </a:xfrm>
          <a:custGeom>
            <a:avLst/>
            <a:gdLst/>
            <a:ahLst/>
            <a:cxnLst/>
            <a:rect l="l" t="t" r="r" b="b"/>
            <a:pathLst>
              <a:path w="3643490" h="1041877">
                <a:moveTo>
                  <a:pt x="0" y="0"/>
                </a:moveTo>
                <a:lnTo>
                  <a:pt x="3643490" y="0"/>
                </a:lnTo>
                <a:lnTo>
                  <a:pt x="3643490" y="1041877"/>
                </a:lnTo>
                <a:lnTo>
                  <a:pt x="0" y="1041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8511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25017" y="4134832"/>
            <a:ext cx="1902354" cy="511080"/>
          </a:xfrm>
          <a:custGeom>
            <a:avLst/>
            <a:gdLst/>
            <a:ahLst/>
            <a:cxnLst/>
            <a:rect l="l" t="t" r="r" b="b"/>
            <a:pathLst>
              <a:path w="1902354" h="511080">
                <a:moveTo>
                  <a:pt x="0" y="0"/>
                </a:moveTo>
                <a:lnTo>
                  <a:pt x="1902354" y="0"/>
                </a:lnTo>
                <a:lnTo>
                  <a:pt x="1902354" y="511080"/>
                </a:lnTo>
                <a:lnTo>
                  <a:pt x="0" y="51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7397" y="5040445"/>
            <a:ext cx="2290085" cy="830063"/>
          </a:xfrm>
          <a:custGeom>
            <a:avLst/>
            <a:gdLst/>
            <a:ahLst/>
            <a:cxnLst/>
            <a:rect l="l" t="t" r="r" b="b"/>
            <a:pathLst>
              <a:path w="2290085" h="830063">
                <a:moveTo>
                  <a:pt x="0" y="0"/>
                </a:moveTo>
                <a:lnTo>
                  <a:pt x="2290085" y="0"/>
                </a:lnTo>
                <a:lnTo>
                  <a:pt x="2290085" y="830063"/>
                </a:lnTo>
                <a:lnTo>
                  <a:pt x="0" y="830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3992" y="5040445"/>
            <a:ext cx="1275572" cy="1383199"/>
          </a:xfrm>
          <a:custGeom>
            <a:avLst/>
            <a:gdLst/>
            <a:ahLst/>
            <a:cxnLst/>
            <a:rect l="l" t="t" r="r" b="b"/>
            <a:pathLst>
              <a:path w="1275572" h="1383199">
                <a:moveTo>
                  <a:pt x="0" y="0"/>
                </a:moveTo>
                <a:lnTo>
                  <a:pt x="1275572" y="0"/>
                </a:lnTo>
                <a:lnTo>
                  <a:pt x="1275572" y="1383198"/>
                </a:lnTo>
                <a:lnTo>
                  <a:pt x="0" y="13831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376629" y="2556651"/>
            <a:ext cx="403371" cy="40337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53229" y="3688894"/>
            <a:ext cx="403371" cy="40337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53229" y="5016521"/>
            <a:ext cx="403371" cy="40337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599570" y="7389157"/>
            <a:ext cx="1851999" cy="1951318"/>
          </a:xfrm>
          <a:custGeom>
            <a:avLst/>
            <a:gdLst/>
            <a:ahLst/>
            <a:cxnLst/>
            <a:rect l="l" t="t" r="r" b="b"/>
            <a:pathLst>
              <a:path w="1851999" h="1951318">
                <a:moveTo>
                  <a:pt x="0" y="0"/>
                </a:moveTo>
                <a:lnTo>
                  <a:pt x="1852000" y="0"/>
                </a:lnTo>
                <a:lnTo>
                  <a:pt x="1852000" y="1951318"/>
                </a:lnTo>
                <a:lnTo>
                  <a:pt x="0" y="1951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376629" y="7398682"/>
            <a:ext cx="3588631" cy="1951318"/>
          </a:xfrm>
          <a:custGeom>
            <a:avLst/>
            <a:gdLst/>
            <a:ahLst/>
            <a:cxnLst/>
            <a:rect l="l" t="t" r="r" b="b"/>
            <a:pathLst>
              <a:path w="3588631" h="1951318">
                <a:moveTo>
                  <a:pt x="0" y="0"/>
                </a:moveTo>
                <a:lnTo>
                  <a:pt x="3588631" y="0"/>
                </a:lnTo>
                <a:lnTo>
                  <a:pt x="3588631" y="1951318"/>
                </a:lnTo>
                <a:lnTo>
                  <a:pt x="0" y="19513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65116" y="276910"/>
            <a:ext cx="2027193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GENERAR CLAVES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5116" y="819089"/>
            <a:ext cx="7182968" cy="15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"/>
              </a:lnSpc>
            </a:pP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barra lateral izquierda:</a:t>
            </a:r>
          </a:p>
          <a:p>
            <a:pPr marL="219773" lvl="1" indent="-109886" algn="l">
              <a:lnSpc>
                <a:spcPts val="1587"/>
              </a:lnSpc>
              <a:buAutoNum type="arabicPeriod"/>
            </a:pP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Seleccione la opción </a:t>
            </a: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Generar Claves</a:t>
            </a:r>
          </a:p>
          <a:p>
            <a:pPr marL="219773" lvl="1" indent="-109886" algn="l">
              <a:lnSpc>
                <a:spcPts val="1587"/>
              </a:lnSpc>
              <a:buAutoNum type="arabicPeriod"/>
            </a:pP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ventana que se abrió, </a:t>
            </a: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selecciona </a:t>
            </a: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una carpeta donde se guardaran las imágenes.</a:t>
            </a:r>
          </a:p>
          <a:p>
            <a:pPr marL="219773" lvl="1" indent="-109886" algn="l">
              <a:lnSpc>
                <a:spcPts val="1587"/>
              </a:lnSpc>
              <a:buAutoNum type="arabicPeriod"/>
            </a:pP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Puede generar claves por </a:t>
            </a: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día </a:t>
            </a: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o por una </a:t>
            </a: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semana </a:t>
            </a: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completa.</a:t>
            </a:r>
          </a:p>
          <a:p>
            <a:pPr marL="219773" lvl="1" indent="-109886" algn="l">
              <a:lnSpc>
                <a:spcPts val="1587"/>
              </a:lnSpc>
              <a:buAutoNum type="arabicPeriod"/>
            </a:pP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Presione el botón </a:t>
            </a: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confirmar </a:t>
            </a: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para guardar las imágenes en la ruta seleccionada.</a:t>
            </a:r>
          </a:p>
          <a:p>
            <a:pPr algn="l">
              <a:lnSpc>
                <a:spcPts val="1587"/>
              </a:lnSpc>
            </a:pPr>
            <a:endParaRPr lang="en-US" sz="1017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587"/>
              </a:lnSpc>
            </a:pPr>
            <a:r>
              <a:rPr lang="en-US" sz="1017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Nota: </a:t>
            </a:r>
            <a:r>
              <a:rPr lang="en-US" sz="1017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 preferible que se generen los claves cada domingo para que correspondan al día de la semana, si se hace un lunes van a estar adelantados un día y por ende no corresponderán.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56966" y="2696222"/>
            <a:ext cx="3638457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barra lateral izquierda, presione la opción generar claves.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56966" y="3641269"/>
            <a:ext cx="3638457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Seleccione la ruta, cuando lo haga aparecerá la notificación en verde de que todo esta ok.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856200" y="4992820"/>
            <a:ext cx="3638457" cy="140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Generar por semana.</a:t>
            </a: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Genera los números de los 7 días, debe hacerse en domingo.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Generar por día.</a:t>
            </a: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Genera la clave del día correspondiente según lo indique con el boton con el icono de </a:t>
            </a: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6816" y="6729151"/>
            <a:ext cx="7182968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Así puede identificar si se generaron correctamente los números por día o por semana, en ambos casos tiene la opción de volver a generar los números con el botón verde.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2842184" y="6356369"/>
            <a:ext cx="1804762" cy="7623877"/>
            <a:chOff x="0" y="0"/>
            <a:chExt cx="732444" cy="310412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3"/>
            <p:cNvSpPr/>
            <p:nvPr/>
          </p:nvSpPr>
          <p:spPr>
            <a:xfrm>
              <a:off x="0" y="0"/>
              <a:ext cx="732444" cy="3104127"/>
            </a:xfrm>
            <a:custGeom>
              <a:avLst/>
              <a:gdLst/>
              <a:ahLst/>
              <a:cxnLst/>
              <a:rect l="l" t="t" r="r" b="b"/>
              <a:pathLst>
                <a:path w="732444" h="3104127">
                  <a:moveTo>
                    <a:pt x="0" y="0"/>
                  </a:moveTo>
                  <a:lnTo>
                    <a:pt x="732444" y="0"/>
                  </a:lnTo>
                  <a:lnTo>
                    <a:pt x="732444" y="3104127"/>
                  </a:lnTo>
                  <a:lnTo>
                    <a:pt x="0" y="3104127"/>
                  </a:lnTo>
                  <a:close/>
                </a:path>
              </a:pathLst>
            </a:custGeom>
            <a:solidFill>
              <a:srgbClr val="A3BCDA"/>
            </a:solidFill>
            <a:ln w="9525" cap="sq">
              <a:solidFill>
                <a:srgbClr val="B8C7F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32444" cy="3113652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67223" y="9043898"/>
            <a:ext cx="222028" cy="222028"/>
          </a:xfrm>
          <a:custGeom>
            <a:avLst/>
            <a:gdLst/>
            <a:ahLst/>
            <a:cxnLst/>
            <a:rect l="l" t="t" r="r" b="b"/>
            <a:pathLst>
              <a:path w="222028" h="222028">
                <a:moveTo>
                  <a:pt x="0" y="0"/>
                </a:moveTo>
                <a:lnTo>
                  <a:pt x="222028" y="0"/>
                </a:lnTo>
                <a:lnTo>
                  <a:pt x="222028" y="222028"/>
                </a:lnTo>
                <a:lnTo>
                  <a:pt x="0" y="2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452257" y="380693"/>
            <a:ext cx="2875485" cy="3780000"/>
            <a:chOff x="0" y="0"/>
            <a:chExt cx="1166986" cy="15340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1166986" cy="1534074"/>
            </a:xfrm>
            <a:custGeom>
              <a:avLst/>
              <a:gdLst/>
              <a:ahLst/>
              <a:cxnLst/>
              <a:rect l="l" t="t" r="r" b="b"/>
              <a:pathLst>
                <a:path w="1166986" h="1534074">
                  <a:moveTo>
                    <a:pt x="0" y="0"/>
                  </a:moveTo>
                  <a:lnTo>
                    <a:pt x="1166986" y="0"/>
                  </a:lnTo>
                  <a:lnTo>
                    <a:pt x="1166986" y="1534074"/>
                  </a:lnTo>
                  <a:lnTo>
                    <a:pt x="0" y="1534074"/>
                  </a:lnTo>
                  <a:close/>
                </a:path>
              </a:pathLst>
            </a:custGeom>
            <a:solidFill>
              <a:srgbClr val="91DEC4"/>
            </a:solidFill>
            <a:ln w="9525" cap="sq">
              <a:solidFill>
                <a:srgbClr val="91DEC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166986" cy="1543599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5116" y="934160"/>
            <a:ext cx="3450150" cy="1054809"/>
          </a:xfrm>
          <a:custGeom>
            <a:avLst/>
            <a:gdLst/>
            <a:ahLst/>
            <a:cxnLst/>
            <a:rect l="l" t="t" r="r" b="b"/>
            <a:pathLst>
              <a:path w="3450150" h="1054809">
                <a:moveTo>
                  <a:pt x="0" y="0"/>
                </a:moveTo>
                <a:lnTo>
                  <a:pt x="3450150" y="0"/>
                </a:lnTo>
                <a:lnTo>
                  <a:pt x="3450150" y="1054809"/>
                </a:lnTo>
                <a:lnTo>
                  <a:pt x="0" y="1054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30" t="-41312" b="-3078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84302" y="1588207"/>
            <a:ext cx="1988845" cy="545957"/>
          </a:xfrm>
          <a:custGeom>
            <a:avLst/>
            <a:gdLst/>
            <a:ahLst/>
            <a:cxnLst/>
            <a:rect l="l" t="t" r="r" b="b"/>
            <a:pathLst>
              <a:path w="1988845" h="545957">
                <a:moveTo>
                  <a:pt x="0" y="0"/>
                </a:moveTo>
                <a:lnTo>
                  <a:pt x="1988845" y="0"/>
                </a:lnTo>
                <a:lnTo>
                  <a:pt x="1988845" y="545957"/>
                </a:lnTo>
                <a:lnTo>
                  <a:pt x="0" y="5459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116" y="2298336"/>
            <a:ext cx="3450150" cy="1127224"/>
          </a:xfrm>
          <a:custGeom>
            <a:avLst/>
            <a:gdLst/>
            <a:ahLst/>
            <a:cxnLst/>
            <a:rect l="l" t="t" r="r" b="b"/>
            <a:pathLst>
              <a:path w="3450150" h="1127224">
                <a:moveTo>
                  <a:pt x="0" y="0"/>
                </a:moveTo>
                <a:lnTo>
                  <a:pt x="3450150" y="0"/>
                </a:lnTo>
                <a:lnTo>
                  <a:pt x="3450150" y="1127225"/>
                </a:lnTo>
                <a:lnTo>
                  <a:pt x="0" y="1127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162248" y="2861948"/>
            <a:ext cx="2873960" cy="846487"/>
          </a:xfrm>
          <a:custGeom>
            <a:avLst/>
            <a:gdLst/>
            <a:ahLst/>
            <a:cxnLst/>
            <a:rect l="l" t="t" r="r" b="b"/>
            <a:pathLst>
              <a:path w="2873960" h="846487">
                <a:moveTo>
                  <a:pt x="0" y="0"/>
                </a:moveTo>
                <a:lnTo>
                  <a:pt x="2873960" y="0"/>
                </a:lnTo>
                <a:lnTo>
                  <a:pt x="2873960" y="846487"/>
                </a:lnTo>
                <a:lnTo>
                  <a:pt x="0" y="8464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34" t="-11098" r="-4372" b="-49203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413580" y="832950"/>
            <a:ext cx="403371" cy="40337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4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-71355" y="244994"/>
            <a:ext cx="2263664" cy="403126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17" name="Group 17"/>
          <p:cNvGrpSpPr/>
          <p:nvPr/>
        </p:nvGrpSpPr>
        <p:grpSpPr>
          <a:xfrm rot="-5400000">
            <a:off x="3269679" y="1055679"/>
            <a:ext cx="1020642" cy="7560000"/>
            <a:chOff x="0" y="0"/>
            <a:chExt cx="414217" cy="3068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4217" cy="3068148"/>
            </a:xfrm>
            <a:custGeom>
              <a:avLst/>
              <a:gdLst/>
              <a:ahLst/>
              <a:cxnLst/>
              <a:rect l="l" t="t" r="r" b="b"/>
              <a:pathLst>
                <a:path w="414217" h="3068148">
                  <a:moveTo>
                    <a:pt x="0" y="0"/>
                  </a:moveTo>
                  <a:lnTo>
                    <a:pt x="414217" y="0"/>
                  </a:lnTo>
                  <a:lnTo>
                    <a:pt x="414217" y="3068148"/>
                  </a:lnTo>
                  <a:lnTo>
                    <a:pt x="0" y="3068148"/>
                  </a:lnTo>
                  <a:close/>
                </a:path>
              </a:pathLst>
            </a:custGeom>
            <a:solidFill>
              <a:srgbClr val="91DEC4"/>
            </a:solidFill>
            <a:ln w="9525" cap="sq">
              <a:solidFill>
                <a:srgbClr val="91DEC4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414217" cy="3077673"/>
            </a:xfrm>
            <a:prstGeom prst="rect">
              <a:avLst/>
            </a:prstGeom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545950" y="4425592"/>
            <a:ext cx="3069316" cy="897775"/>
          </a:xfrm>
          <a:custGeom>
            <a:avLst/>
            <a:gdLst/>
            <a:ahLst/>
            <a:cxnLst/>
            <a:rect l="l" t="t" r="r" b="b"/>
            <a:pathLst>
              <a:path w="3069316" h="897775">
                <a:moveTo>
                  <a:pt x="0" y="0"/>
                </a:moveTo>
                <a:lnTo>
                  <a:pt x="3069316" y="0"/>
                </a:lnTo>
                <a:lnTo>
                  <a:pt x="3069316" y="897774"/>
                </a:lnTo>
                <a:lnTo>
                  <a:pt x="0" y="8977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784362" y="4406542"/>
            <a:ext cx="3443473" cy="916825"/>
          </a:xfrm>
          <a:custGeom>
            <a:avLst/>
            <a:gdLst/>
            <a:ahLst/>
            <a:cxnLst/>
            <a:rect l="l" t="t" r="r" b="b"/>
            <a:pathLst>
              <a:path w="3443473" h="916825">
                <a:moveTo>
                  <a:pt x="0" y="0"/>
                </a:moveTo>
                <a:lnTo>
                  <a:pt x="3443473" y="0"/>
                </a:lnTo>
                <a:lnTo>
                  <a:pt x="3443473" y="916824"/>
                </a:lnTo>
                <a:lnTo>
                  <a:pt x="0" y="9168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>
            <a:off x="0" y="5727000"/>
            <a:ext cx="1250314" cy="356404"/>
          </a:xfrm>
          <a:prstGeom prst="rect">
            <a:avLst/>
          </a:prstGeom>
          <a:solidFill>
            <a:srgbClr val="231076"/>
          </a:solidFill>
        </p:spPr>
      </p:sp>
      <p:grpSp>
        <p:nvGrpSpPr>
          <p:cNvPr id="23" name="Group 23"/>
          <p:cNvGrpSpPr/>
          <p:nvPr/>
        </p:nvGrpSpPr>
        <p:grpSpPr>
          <a:xfrm rot="-5400000">
            <a:off x="2864316" y="3846334"/>
            <a:ext cx="1804762" cy="7586607"/>
            <a:chOff x="0" y="0"/>
            <a:chExt cx="732444" cy="3078946"/>
          </a:xfrm>
          <a:solidFill>
            <a:srgbClr val="A2BFC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2444" cy="3078946"/>
            </a:xfrm>
            <a:custGeom>
              <a:avLst/>
              <a:gdLst/>
              <a:ahLst/>
              <a:cxnLst/>
              <a:rect l="l" t="t" r="r" b="b"/>
              <a:pathLst>
                <a:path w="732444" h="3078946">
                  <a:moveTo>
                    <a:pt x="0" y="0"/>
                  </a:moveTo>
                  <a:lnTo>
                    <a:pt x="732444" y="0"/>
                  </a:lnTo>
                  <a:lnTo>
                    <a:pt x="732444" y="3078946"/>
                  </a:lnTo>
                  <a:lnTo>
                    <a:pt x="0" y="3078946"/>
                  </a:lnTo>
                  <a:close/>
                </a:path>
              </a:pathLst>
            </a:custGeom>
            <a:grpFill/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32444" cy="3088471"/>
            </a:xfrm>
            <a:prstGeom prst="rect">
              <a:avLst/>
            </a:prstGeom>
            <a:grpFill/>
            <a:ln>
              <a:solidFill>
                <a:srgbClr val="A2BFC8"/>
              </a:solidFill>
            </a:ln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07707" y="6867156"/>
            <a:ext cx="2582471" cy="1012865"/>
          </a:xfrm>
          <a:custGeom>
            <a:avLst/>
            <a:gdLst/>
            <a:ahLst/>
            <a:cxnLst/>
            <a:rect l="l" t="t" r="r" b="b"/>
            <a:pathLst>
              <a:path w="2582471" h="1012865">
                <a:moveTo>
                  <a:pt x="0" y="0"/>
                </a:moveTo>
                <a:lnTo>
                  <a:pt x="2582471" y="0"/>
                </a:lnTo>
                <a:lnTo>
                  <a:pt x="2582471" y="1012865"/>
                </a:lnTo>
                <a:lnTo>
                  <a:pt x="0" y="1012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054695" y="6737257"/>
            <a:ext cx="3748236" cy="1728874"/>
          </a:xfrm>
          <a:custGeom>
            <a:avLst/>
            <a:gdLst/>
            <a:ahLst/>
            <a:cxnLst/>
            <a:rect l="l" t="t" r="r" b="b"/>
            <a:pathLst>
              <a:path w="3748236" h="1728874">
                <a:moveTo>
                  <a:pt x="0" y="0"/>
                </a:moveTo>
                <a:lnTo>
                  <a:pt x="3748236" y="0"/>
                </a:lnTo>
                <a:lnTo>
                  <a:pt x="3748236" y="1728874"/>
                </a:lnTo>
                <a:lnTo>
                  <a:pt x="0" y="1728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192309" y="9580116"/>
            <a:ext cx="2736504" cy="711767"/>
          </a:xfrm>
          <a:custGeom>
            <a:avLst/>
            <a:gdLst/>
            <a:ahLst/>
            <a:cxnLst/>
            <a:rect l="l" t="t" r="r" b="b"/>
            <a:pathLst>
              <a:path w="2736504" h="711767">
                <a:moveTo>
                  <a:pt x="0" y="0"/>
                </a:moveTo>
                <a:lnTo>
                  <a:pt x="2736504" y="0"/>
                </a:lnTo>
                <a:lnTo>
                  <a:pt x="2736504" y="711768"/>
                </a:lnTo>
                <a:lnTo>
                  <a:pt x="0" y="7117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859496" y="785325"/>
            <a:ext cx="3638457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Finalmente. presione confirmar para generar las imágenes en la ruta que selecciono al principio. Mostrará una notificación de que se están generando.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59496" y="2272828"/>
            <a:ext cx="3638457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Mostrará un mensaje para abrir la carpeta donde se guardaron las imagenes.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116" y="276910"/>
            <a:ext cx="2027193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GENERAR CLAVES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772" y="3841785"/>
            <a:ext cx="7427181" cy="402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Las imágenes generadas son como la que se muestra a continuación, no pueden ser modificadas en formato. Contactar al equipo de desarrollo si se desea cambiar algo respecto a la imagen.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6471" y="5758915"/>
            <a:ext cx="942242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EXTRAS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772" y="6312004"/>
            <a:ext cx="7365242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Modo claro/modo oscuro.</a:t>
            </a:r>
          </a:p>
          <a:p>
            <a:pPr algn="just">
              <a:lnSpc>
                <a:spcPts val="1637"/>
              </a:lnSpc>
            </a:pPr>
            <a:r>
              <a:rPr lang="en-US" sz="107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 la barra lateral izquierda, en la opcion Modo oscuro presione para cambiar el tema del programa.</a:t>
            </a: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37"/>
              </a:lnSpc>
            </a:pPr>
            <a:endParaRPr lang="en-US" sz="107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7707" y="8618645"/>
            <a:ext cx="7427181" cy="80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Nuevo Qr.</a:t>
            </a:r>
          </a:p>
          <a:p>
            <a:pPr algn="just">
              <a:lnSpc>
                <a:spcPts val="1637"/>
              </a:lnSpc>
            </a:pP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Si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cierra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sesión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cierra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abre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programa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y no se ha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generado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Qr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presione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esta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opción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forzar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un nuevo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Qr.</a:t>
            </a:r>
          </a:p>
          <a:p>
            <a:pPr algn="just">
              <a:lnSpc>
                <a:spcPts val="1637"/>
              </a:lnSpc>
            </a:pPr>
            <a:endParaRPr lang="en-US" sz="1070" dirty="0">
              <a:solidFill>
                <a:srgbClr val="23107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23">
            <a:extLst>
              <a:ext uri="{FF2B5EF4-FFF2-40B4-BE49-F238E27FC236}">
                <a16:creationId xmlns:a16="http://schemas.microsoft.com/office/drawing/2014/main" id="{BEE5E57A-25E7-448A-9EBB-31D273730184}"/>
              </a:ext>
            </a:extLst>
          </p:cNvPr>
          <p:cNvGrpSpPr/>
          <p:nvPr/>
        </p:nvGrpSpPr>
        <p:grpSpPr>
          <a:xfrm rot="-5400000">
            <a:off x="2672403" y="5802951"/>
            <a:ext cx="2211695" cy="7556502"/>
            <a:chOff x="0" y="0"/>
            <a:chExt cx="732444" cy="3078946"/>
          </a:xfrm>
          <a:solidFill>
            <a:srgbClr val="A2BFC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EA6471EC-B136-493C-9ACD-3C5ABF2B5B69}"/>
                </a:ext>
              </a:extLst>
            </p:cNvPr>
            <p:cNvSpPr/>
            <p:nvPr/>
          </p:nvSpPr>
          <p:spPr>
            <a:xfrm>
              <a:off x="0" y="0"/>
              <a:ext cx="732444" cy="3078946"/>
            </a:xfrm>
            <a:custGeom>
              <a:avLst/>
              <a:gdLst/>
              <a:ahLst/>
              <a:cxnLst/>
              <a:rect l="l" t="t" r="r" b="b"/>
              <a:pathLst>
                <a:path w="732444" h="3078946">
                  <a:moveTo>
                    <a:pt x="0" y="0"/>
                  </a:moveTo>
                  <a:lnTo>
                    <a:pt x="732444" y="0"/>
                  </a:lnTo>
                  <a:lnTo>
                    <a:pt x="732444" y="3078946"/>
                  </a:lnTo>
                  <a:lnTo>
                    <a:pt x="0" y="3078946"/>
                  </a:lnTo>
                  <a:close/>
                </a:path>
              </a:pathLst>
            </a:custGeom>
            <a:grpFill/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68" name="TextBox 25">
              <a:extLst>
                <a:ext uri="{FF2B5EF4-FFF2-40B4-BE49-F238E27FC236}">
                  <a16:creationId xmlns:a16="http://schemas.microsoft.com/office/drawing/2014/main" id="{BCCCAA43-605A-487B-8C54-23B90A43E758}"/>
                </a:ext>
              </a:extLst>
            </p:cNvPr>
            <p:cNvSpPr txBox="1"/>
            <p:nvPr/>
          </p:nvSpPr>
          <p:spPr>
            <a:xfrm>
              <a:off x="0" y="-9525"/>
              <a:ext cx="732444" cy="3088471"/>
            </a:xfrm>
            <a:prstGeom prst="rect">
              <a:avLst/>
            </a:prstGeom>
            <a:grpFill/>
            <a:ln>
              <a:solidFill>
                <a:srgbClr val="A2BFC8"/>
              </a:solidFill>
            </a:ln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 dirty="0"/>
            </a:p>
          </p:txBody>
        </p:sp>
      </p:grpSp>
      <p:grpSp>
        <p:nvGrpSpPr>
          <p:cNvPr id="53" name="Group 23">
            <a:extLst>
              <a:ext uri="{FF2B5EF4-FFF2-40B4-BE49-F238E27FC236}">
                <a16:creationId xmlns:a16="http://schemas.microsoft.com/office/drawing/2014/main" id="{AD59AD34-8CDF-4E4D-B758-083DABA739D3}"/>
              </a:ext>
            </a:extLst>
          </p:cNvPr>
          <p:cNvGrpSpPr/>
          <p:nvPr/>
        </p:nvGrpSpPr>
        <p:grpSpPr>
          <a:xfrm rot="-5400000">
            <a:off x="2875870" y="2912719"/>
            <a:ext cx="1804762" cy="7556502"/>
            <a:chOff x="0" y="0"/>
            <a:chExt cx="732444" cy="3078946"/>
          </a:xfrm>
          <a:solidFill>
            <a:srgbClr val="A2BFC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6C917F1B-4CC6-41FC-86C1-079DB45F8231}"/>
                </a:ext>
              </a:extLst>
            </p:cNvPr>
            <p:cNvSpPr/>
            <p:nvPr/>
          </p:nvSpPr>
          <p:spPr>
            <a:xfrm>
              <a:off x="0" y="0"/>
              <a:ext cx="732444" cy="3078946"/>
            </a:xfrm>
            <a:custGeom>
              <a:avLst/>
              <a:gdLst/>
              <a:ahLst/>
              <a:cxnLst/>
              <a:rect l="l" t="t" r="r" b="b"/>
              <a:pathLst>
                <a:path w="732444" h="3078946">
                  <a:moveTo>
                    <a:pt x="0" y="0"/>
                  </a:moveTo>
                  <a:lnTo>
                    <a:pt x="732444" y="0"/>
                  </a:lnTo>
                  <a:lnTo>
                    <a:pt x="732444" y="3078946"/>
                  </a:lnTo>
                  <a:lnTo>
                    <a:pt x="0" y="3078946"/>
                  </a:lnTo>
                  <a:close/>
                </a:path>
              </a:pathLst>
            </a:custGeom>
            <a:grpFill/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55" name="TextBox 25">
              <a:extLst>
                <a:ext uri="{FF2B5EF4-FFF2-40B4-BE49-F238E27FC236}">
                  <a16:creationId xmlns:a16="http://schemas.microsoft.com/office/drawing/2014/main" id="{BE3678B6-38AE-4338-929C-BFF3130D9E80}"/>
                </a:ext>
              </a:extLst>
            </p:cNvPr>
            <p:cNvSpPr txBox="1"/>
            <p:nvPr/>
          </p:nvSpPr>
          <p:spPr>
            <a:xfrm>
              <a:off x="0" y="-9525"/>
              <a:ext cx="732444" cy="3088471"/>
            </a:xfrm>
            <a:prstGeom prst="rect">
              <a:avLst/>
            </a:prstGeom>
            <a:grpFill/>
            <a:ln>
              <a:solidFill>
                <a:srgbClr val="A2BFC8"/>
              </a:solidFill>
            </a:ln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 dirty="0"/>
            </a:p>
          </p:txBody>
        </p:sp>
      </p:grpSp>
      <p:grpSp>
        <p:nvGrpSpPr>
          <p:cNvPr id="36" name="Group 23">
            <a:extLst>
              <a:ext uri="{FF2B5EF4-FFF2-40B4-BE49-F238E27FC236}">
                <a16:creationId xmlns:a16="http://schemas.microsoft.com/office/drawing/2014/main" id="{ECB4F1B4-C9FA-4103-BACC-32F287494987}"/>
              </a:ext>
            </a:extLst>
          </p:cNvPr>
          <p:cNvGrpSpPr/>
          <p:nvPr/>
        </p:nvGrpSpPr>
        <p:grpSpPr>
          <a:xfrm rot="-5400000">
            <a:off x="2943068" y="-514678"/>
            <a:ext cx="1712806" cy="7556502"/>
            <a:chOff x="0" y="0"/>
            <a:chExt cx="732444" cy="3078946"/>
          </a:xfrm>
          <a:solidFill>
            <a:srgbClr val="A2BFC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Freeform 24">
              <a:extLst>
                <a:ext uri="{FF2B5EF4-FFF2-40B4-BE49-F238E27FC236}">
                  <a16:creationId xmlns:a16="http://schemas.microsoft.com/office/drawing/2014/main" id="{EEC5F0C4-A9ED-4537-BB57-44B27510E391}"/>
                </a:ext>
              </a:extLst>
            </p:cNvPr>
            <p:cNvSpPr/>
            <p:nvPr/>
          </p:nvSpPr>
          <p:spPr>
            <a:xfrm>
              <a:off x="0" y="0"/>
              <a:ext cx="732444" cy="3078946"/>
            </a:xfrm>
            <a:custGeom>
              <a:avLst/>
              <a:gdLst/>
              <a:ahLst/>
              <a:cxnLst/>
              <a:rect l="l" t="t" r="r" b="b"/>
              <a:pathLst>
                <a:path w="732444" h="3078946">
                  <a:moveTo>
                    <a:pt x="0" y="0"/>
                  </a:moveTo>
                  <a:lnTo>
                    <a:pt x="732444" y="0"/>
                  </a:lnTo>
                  <a:lnTo>
                    <a:pt x="732444" y="3078946"/>
                  </a:lnTo>
                  <a:lnTo>
                    <a:pt x="0" y="3078946"/>
                  </a:lnTo>
                  <a:close/>
                </a:path>
              </a:pathLst>
            </a:custGeom>
            <a:grpFill/>
            <a:ln w="9525" cap="sq">
              <a:solidFill>
                <a:srgbClr val="A2BFC8"/>
              </a:solidFill>
              <a:prstDash val="solid"/>
              <a:miter/>
            </a:ln>
          </p:spPr>
        </p:sp>
        <p:sp>
          <p:nvSpPr>
            <p:cNvPr id="38" name="TextBox 25">
              <a:extLst>
                <a:ext uri="{FF2B5EF4-FFF2-40B4-BE49-F238E27FC236}">
                  <a16:creationId xmlns:a16="http://schemas.microsoft.com/office/drawing/2014/main" id="{85C59C71-20B6-44AB-A1C7-56797D31B754}"/>
                </a:ext>
              </a:extLst>
            </p:cNvPr>
            <p:cNvSpPr txBox="1"/>
            <p:nvPr/>
          </p:nvSpPr>
          <p:spPr>
            <a:xfrm>
              <a:off x="0" y="-9525"/>
              <a:ext cx="732444" cy="3088471"/>
            </a:xfrm>
            <a:prstGeom prst="rect">
              <a:avLst/>
            </a:prstGeom>
            <a:grpFill/>
            <a:ln>
              <a:solidFill>
                <a:srgbClr val="A2BFC8"/>
              </a:solidFill>
            </a:ln>
          </p:spPr>
          <p:txBody>
            <a:bodyPr lIns="35919" tIns="35919" rIns="35919" bIns="35919" rtlCol="0" anchor="ctr"/>
            <a:lstStyle/>
            <a:p>
              <a:pPr algn="ctr">
                <a:lnSpc>
                  <a:spcPts val="120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067223" y="9043898"/>
            <a:ext cx="222028" cy="222028"/>
          </a:xfrm>
          <a:custGeom>
            <a:avLst/>
            <a:gdLst/>
            <a:ahLst/>
            <a:cxnLst/>
            <a:rect l="l" t="t" r="r" b="b"/>
            <a:pathLst>
              <a:path w="222028" h="222028">
                <a:moveTo>
                  <a:pt x="0" y="0"/>
                </a:moveTo>
                <a:lnTo>
                  <a:pt x="222028" y="0"/>
                </a:lnTo>
                <a:lnTo>
                  <a:pt x="222028" y="222028"/>
                </a:lnTo>
                <a:lnTo>
                  <a:pt x="0" y="222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>
            <a:off x="-30213" y="285585"/>
            <a:ext cx="1250314" cy="356404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33" name="TextBox 33"/>
          <p:cNvSpPr txBox="1"/>
          <p:nvPr/>
        </p:nvSpPr>
        <p:spPr>
          <a:xfrm>
            <a:off x="206258" y="317500"/>
            <a:ext cx="942242" cy="27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EXTRAS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970" y="697406"/>
            <a:ext cx="7365242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70" b="1" dirty="0">
                <a:solidFill>
                  <a:srgbClr val="231076"/>
                </a:solidFill>
                <a:latin typeface="Poppins Bold"/>
                <a:ea typeface="Poppins"/>
                <a:cs typeface="Poppins Bold"/>
                <a:sym typeface="Poppins Bold"/>
              </a:rPr>
              <a:t>Test de </a:t>
            </a:r>
            <a:r>
              <a:rPr lang="en-US" sz="1070" b="1" dirty="0" err="1">
                <a:solidFill>
                  <a:srgbClr val="231076"/>
                </a:solidFill>
                <a:latin typeface="Poppins Bold"/>
                <a:ea typeface="Poppins"/>
                <a:cs typeface="Poppins Bold"/>
                <a:sym typeface="Poppins Bold"/>
              </a:rPr>
              <a:t>Envío</a:t>
            </a:r>
            <a:r>
              <a:rPr lang="en-US" sz="1070" b="1" dirty="0">
                <a:solidFill>
                  <a:srgbClr val="231076"/>
                </a:solidFill>
                <a:latin typeface="Poppins Bold"/>
                <a:ea typeface="Poppins"/>
                <a:cs typeface="Poppins Bold"/>
                <a:sym typeface="Poppins Bold"/>
              </a:rPr>
              <a:t>: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barra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lateral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izquierda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use la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opcion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Test de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Envío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esto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enviara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mensaje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inmediatamente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tener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programar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envío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. Complete los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campos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necesarios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Imagen.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Mensaje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Grupo/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(solo uno).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Nota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verifique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estado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este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mensaje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“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Ya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 se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pueden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programar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envíos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"/>
              </a:rPr>
              <a:t>”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antes de usar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test de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envío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.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1662F080-F81B-4EAE-BEE8-1A80DA3D6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72" y="2879617"/>
            <a:ext cx="2428992" cy="7066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38293E30-8C75-4C73-ABFE-037979D01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2519" y="2441269"/>
            <a:ext cx="2852553" cy="16787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" name="TextBox 34">
            <a:extLst>
              <a:ext uri="{FF2B5EF4-FFF2-40B4-BE49-F238E27FC236}">
                <a16:creationId xmlns:a16="http://schemas.microsoft.com/office/drawing/2014/main" id="{21EFDB0F-B8F8-4704-806B-F8C86FEC9754}"/>
              </a:ext>
            </a:extLst>
          </p:cNvPr>
          <p:cNvSpPr txBox="1"/>
          <p:nvPr/>
        </p:nvSpPr>
        <p:spPr>
          <a:xfrm>
            <a:off x="52970" y="4270958"/>
            <a:ext cx="7365242" cy="145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70" b="1" dirty="0" err="1">
                <a:solidFill>
                  <a:srgbClr val="231076"/>
                </a:solidFill>
                <a:latin typeface="Poppins Bold"/>
                <a:ea typeface="Poppins"/>
                <a:cs typeface="Poppins Bold"/>
                <a:sym typeface="Poppins Bold"/>
              </a:rPr>
              <a:t>Eliminar</a:t>
            </a:r>
            <a:r>
              <a:rPr lang="en-US" sz="1070" b="1" dirty="0">
                <a:solidFill>
                  <a:srgbClr val="231076"/>
                </a:solidFill>
                <a:latin typeface="Poppins Bold"/>
                <a:ea typeface="Poppins"/>
                <a:cs typeface="Poppins Bold"/>
                <a:sym typeface="Poppins Bold"/>
              </a:rPr>
              <a:t> logs: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sección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inferior de la zona de </a:t>
            </a:r>
            <a:r>
              <a:rPr lang="en-US" sz="1070" b="1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estado</a:t>
            </a:r>
            <a:r>
              <a:rPr lang="en-US" sz="1070" b="1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 de </a:t>
            </a:r>
            <a:r>
              <a:rPr lang="en-US" sz="1070" b="1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conexión</a:t>
            </a:r>
            <a:r>
              <a:rPr lang="en-US" sz="1070" b="1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aparece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información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sobre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algunas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actividades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como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Test de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envío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exitoso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Envio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a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grupos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exitosos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Programación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de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envío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exitoso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Presione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boton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de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eliminar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y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eso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limpiara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información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de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esa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zona.</a:t>
            </a:r>
            <a:endParaRPr lang="en-US" sz="1070" dirty="0">
              <a:solidFill>
                <a:srgbClr val="231076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396B621-84B6-4D3B-82A2-DFF7B47FBC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08" y="5873789"/>
            <a:ext cx="1858267" cy="16692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7BE476DF-3334-4EE8-B9AC-4113E829E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8675" y="6725531"/>
            <a:ext cx="2304026" cy="808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003DBF50-DB2C-48BF-991F-D537155D4B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1500" y="5869088"/>
            <a:ext cx="1977512" cy="16649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6" name="Rectángulo 55">
            <a:extLst>
              <a:ext uri="{FF2B5EF4-FFF2-40B4-BE49-F238E27FC236}">
                <a16:creationId xmlns:a16="http://schemas.microsoft.com/office/drawing/2014/main" id="{2BD1B8DE-F056-4C36-A0E5-1A3060689F65}"/>
              </a:ext>
            </a:extLst>
          </p:cNvPr>
          <p:cNvSpPr/>
          <p:nvPr/>
        </p:nvSpPr>
        <p:spPr>
          <a:xfrm>
            <a:off x="4178237" y="6725531"/>
            <a:ext cx="345772" cy="387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CB8A3CD4-50E3-457C-AC61-8394DA91F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2" y="8549344"/>
            <a:ext cx="2091403" cy="19839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B6727652-9C65-4C21-A79A-69FD5CF763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9242" y="9854443"/>
            <a:ext cx="3733800" cy="586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F2E8CED5-F436-47DA-94D3-73FE7B60B7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9242" y="8633193"/>
            <a:ext cx="3733800" cy="8123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9" name="TextBox 35">
            <a:extLst>
              <a:ext uri="{FF2B5EF4-FFF2-40B4-BE49-F238E27FC236}">
                <a16:creationId xmlns:a16="http://schemas.microsoft.com/office/drawing/2014/main" id="{A3217CD9-B02E-417E-BC10-0B89C5434434}"/>
              </a:ext>
            </a:extLst>
          </p:cNvPr>
          <p:cNvSpPr txBox="1"/>
          <p:nvPr/>
        </p:nvSpPr>
        <p:spPr>
          <a:xfrm>
            <a:off x="52970" y="7820674"/>
            <a:ext cx="7427181" cy="6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37"/>
              </a:lnSpc>
            </a:pPr>
            <a:r>
              <a:rPr lang="en-US" sz="1070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Validador</a:t>
            </a:r>
            <a:r>
              <a:rPr lang="en-US" sz="1070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1070" b="1" dirty="0" err="1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grupos</a:t>
            </a:r>
            <a:r>
              <a:rPr lang="en-US" sz="1070" b="1" dirty="0">
                <a:solidFill>
                  <a:srgbClr val="231076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just">
              <a:lnSpc>
                <a:spcPts val="1637"/>
              </a:lnSpc>
            </a:pP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Puede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ocultar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con la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pestaña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señalada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la imagen para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contraer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sección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valida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grupos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existentes</a:t>
            </a:r>
            <a:r>
              <a:rPr lang="en-US" sz="1070" dirty="0">
                <a:solidFill>
                  <a:srgbClr val="23107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D7C1EDD0-F7DD-4ABC-AD00-ED12E4A1FF20}"/>
              </a:ext>
            </a:extLst>
          </p:cNvPr>
          <p:cNvSpPr/>
          <p:nvPr/>
        </p:nvSpPr>
        <p:spPr>
          <a:xfrm>
            <a:off x="2032774" y="8961253"/>
            <a:ext cx="145275" cy="138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39BA2538-F195-4474-993B-54DEB2E8BD43}"/>
              </a:ext>
            </a:extLst>
          </p:cNvPr>
          <p:cNvSpPr/>
          <p:nvPr/>
        </p:nvSpPr>
        <p:spPr>
          <a:xfrm>
            <a:off x="6521450" y="8728017"/>
            <a:ext cx="222028" cy="222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015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22"/>
          <p:cNvSpPr/>
          <p:nvPr/>
        </p:nvSpPr>
        <p:spPr>
          <a:xfrm>
            <a:off x="-30214" y="285585"/>
            <a:ext cx="2360664" cy="356404"/>
          </a:xfrm>
          <a:prstGeom prst="rect">
            <a:avLst/>
          </a:prstGeom>
          <a:solidFill>
            <a:srgbClr val="231076"/>
          </a:solidFill>
        </p:spPr>
      </p:sp>
      <p:sp>
        <p:nvSpPr>
          <p:cNvPr id="33" name="TextBox 33"/>
          <p:cNvSpPr txBox="1"/>
          <p:nvPr/>
        </p:nvSpPr>
        <p:spPr>
          <a:xfrm>
            <a:off x="206258" y="317500"/>
            <a:ext cx="2276592" cy="273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sz="1712" b="1" dirty="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ACTUALIZACIONES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122" y="744405"/>
            <a:ext cx="7365242" cy="71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70" b="1" dirty="0">
                <a:solidFill>
                  <a:srgbClr val="231076"/>
                </a:solidFill>
                <a:latin typeface="Poppins Bold"/>
                <a:ea typeface="Poppins"/>
                <a:cs typeface="Poppins Bold"/>
                <a:sym typeface="Poppins Bold"/>
              </a:rPr>
              <a:t>Actualizaciones.</a:t>
            </a:r>
          </a:p>
          <a:p>
            <a:pPr algn="just">
              <a:lnSpc>
                <a:spcPct val="150000"/>
              </a:lnSpc>
            </a:pP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Cuando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se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abra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programa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este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busacará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si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hay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actualizaciones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disponibles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,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si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no las hay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muestra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que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ya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se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cuenta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con la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versión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más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reciente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 </a:t>
            </a:r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24935250-D265-4611-9DA4-A969E20F6BEC}"/>
              </a:ext>
            </a:extLst>
          </p:cNvPr>
          <p:cNvSpPr txBox="1"/>
          <p:nvPr/>
        </p:nvSpPr>
        <p:spPr>
          <a:xfrm rot="16200000">
            <a:off x="2801037" y="-1350176"/>
            <a:ext cx="1931047" cy="75798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5919" tIns="35919" rIns="35919" bIns="35919" rtlCol="0" anchor="ctr"/>
          <a:lstStyle/>
          <a:p>
            <a:pPr algn="ctr">
              <a:lnSpc>
                <a:spcPts val="1207"/>
              </a:lnSpc>
            </a:pP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F5F2FC-876A-4535-BADE-F7CF34D94CBA}"/>
              </a:ext>
            </a:extLst>
          </p:cNvPr>
          <p:cNvSpPr txBox="1"/>
          <p:nvPr/>
        </p:nvSpPr>
        <p:spPr>
          <a:xfrm>
            <a:off x="69122" y="3590268"/>
            <a:ext cx="7365242" cy="145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algn="just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70" b="1" kern="1200" dirty="0" err="1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Cuando</a:t>
            </a:r>
            <a:r>
              <a:rPr lang="en-US" sz="1070" b="1" kern="1200" dirty="0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 </a:t>
            </a:r>
            <a:r>
              <a:rPr lang="en-US" sz="1070" b="1" kern="1200" dirty="0" err="1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exista</a:t>
            </a:r>
            <a:r>
              <a:rPr lang="en-US" sz="1070" b="1" kern="1200" dirty="0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 una </a:t>
            </a:r>
            <a:r>
              <a:rPr lang="en-US" sz="1070" b="1" kern="1200" dirty="0" err="1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actualización</a:t>
            </a:r>
            <a:r>
              <a:rPr lang="en-US" sz="1070" b="1" kern="1200" dirty="0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 se </a:t>
            </a:r>
            <a:r>
              <a:rPr lang="en-US" sz="1070" b="1" kern="1200" dirty="0" err="1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muestra</a:t>
            </a:r>
            <a:r>
              <a:rPr lang="en-US" sz="1070" b="1" kern="1200" dirty="0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 una </a:t>
            </a:r>
            <a:r>
              <a:rPr lang="en-US" sz="1070" b="1" kern="1200" dirty="0" err="1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pantalla</a:t>
            </a:r>
            <a:r>
              <a:rPr lang="en-US" sz="1070" b="1" kern="1200" dirty="0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 de </a:t>
            </a:r>
            <a:r>
              <a:rPr lang="en-US" sz="1070" b="1" kern="1200" dirty="0" err="1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descarga</a:t>
            </a:r>
            <a:r>
              <a:rPr lang="en-US" sz="1070" b="1" kern="1200" dirty="0">
                <a:solidFill>
                  <a:srgbClr val="231076"/>
                </a:solidFill>
                <a:effectLst/>
                <a:latin typeface="Poppins Bold" panose="020B0604020202020204" charset="0"/>
                <a:ea typeface="Poppins" panose="00000500000000000000" pitchFamily="2" charset="0"/>
                <a:cs typeface="Poppins Bold" panose="020B0604020202020204" charset="0"/>
              </a:rPr>
              <a:t> con:</a:t>
            </a:r>
            <a:endParaRPr lang="es-MX" sz="1070" dirty="0">
              <a:effectLst/>
            </a:endParaRPr>
          </a:p>
          <a:p>
            <a:pPr marL="173736" indent="-173736" algn="just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Barra de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progreso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descarga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MX" sz="107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3736" indent="-173736" algn="just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Versión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de la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actualización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s-MX" sz="107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3736" indent="-173736" algn="just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Botón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descargar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más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tarde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(al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cerrar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y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abrir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nuevamente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el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programa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volverá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a detector la </a:t>
            </a:r>
            <a:r>
              <a:rPr lang="en-US" sz="1070" kern="1200" dirty="0" err="1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actualización</a:t>
            </a:r>
            <a:r>
              <a:rPr lang="en-US" sz="1070" kern="1200" dirty="0">
                <a:solidFill>
                  <a:srgbClr val="231076"/>
                </a:solidFill>
                <a:effectLst/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).</a:t>
            </a:r>
            <a:endParaRPr lang="es-MX" sz="107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1070" dirty="0">
              <a:solidFill>
                <a:srgbClr val="231076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 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2D452D-4CDC-4AE4-8C01-A049B32AE9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69"/>
          <a:stretch/>
        </p:blipFill>
        <p:spPr>
          <a:xfrm>
            <a:off x="1644650" y="1563017"/>
            <a:ext cx="1532697" cy="17534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326ED5B-3EBD-46EB-82C5-5EFDD8FFC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29" t="9059" r="4055" b="71011"/>
          <a:stretch/>
        </p:blipFill>
        <p:spPr>
          <a:xfrm>
            <a:off x="4159250" y="1899123"/>
            <a:ext cx="3048000" cy="1151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25">
            <a:extLst>
              <a:ext uri="{FF2B5EF4-FFF2-40B4-BE49-F238E27FC236}">
                <a16:creationId xmlns:a16="http://schemas.microsoft.com/office/drawing/2014/main" id="{2D964D12-993B-4BC8-8357-0A51D20D2208}"/>
              </a:ext>
            </a:extLst>
          </p:cNvPr>
          <p:cNvSpPr txBox="1"/>
          <p:nvPr/>
        </p:nvSpPr>
        <p:spPr>
          <a:xfrm rot="16200000">
            <a:off x="2812726" y="2037230"/>
            <a:ext cx="1931047" cy="75798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5919" tIns="35919" rIns="35919" bIns="35919" rtlCol="0" anchor="ctr"/>
          <a:lstStyle/>
          <a:p>
            <a:pPr algn="ctr">
              <a:lnSpc>
                <a:spcPts val="1207"/>
              </a:lnSpc>
            </a:pPr>
            <a:endParaRPr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B198A934-67A4-42DB-B9C2-3E70A2FE94CF}"/>
              </a:ext>
            </a:extLst>
          </p:cNvPr>
          <p:cNvPicPr/>
          <p:nvPr/>
        </p:nvPicPr>
        <p:blipFill rotWithShape="1">
          <a:blip r:embed="rId3"/>
          <a:srcRect l="3907" t="4301" r="1597" b="3653"/>
          <a:stretch/>
        </p:blipFill>
        <p:spPr>
          <a:xfrm>
            <a:off x="206258" y="4951191"/>
            <a:ext cx="2028942" cy="17221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725B89CD-AC34-4966-A97F-012A9125858A}"/>
              </a:ext>
            </a:extLst>
          </p:cNvPr>
          <p:cNvPicPr/>
          <p:nvPr/>
        </p:nvPicPr>
        <p:blipFill rotWithShape="1">
          <a:blip r:embed="rId4"/>
          <a:srcRect l="2564" t="4587" r="2564" b="2388"/>
          <a:stretch/>
        </p:blipFill>
        <p:spPr>
          <a:xfrm>
            <a:off x="5226050" y="4951191"/>
            <a:ext cx="2187148" cy="16891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6150077-230D-4DE7-87AF-FA70A15BB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992" y="4951191"/>
            <a:ext cx="1905000" cy="17474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TextBox 34">
            <a:extLst>
              <a:ext uri="{FF2B5EF4-FFF2-40B4-BE49-F238E27FC236}">
                <a16:creationId xmlns:a16="http://schemas.microsoft.com/office/drawing/2014/main" id="{5C870998-E20D-45A3-9808-F120279FAC57}"/>
              </a:ext>
            </a:extLst>
          </p:cNvPr>
          <p:cNvSpPr txBox="1"/>
          <p:nvPr/>
        </p:nvSpPr>
        <p:spPr>
          <a:xfrm>
            <a:off x="47956" y="6966788"/>
            <a:ext cx="7365242" cy="1211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Instalación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</a:t>
            </a:r>
          </a:p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Seleccione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todos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 los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usuarios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 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y de click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siguiente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,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aparecera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una Ventana de windows y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seleccione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si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</a:t>
            </a:r>
          </a:p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Seleccione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la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ruta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(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puede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dejar</a:t>
            </a:r>
            <a:r>
              <a:rPr lang="en-US" sz="1070" dirty="0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 la que da por default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).</a:t>
            </a:r>
          </a:p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Con la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casilla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marcada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de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ejecutar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SAM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precione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botón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de </a:t>
            </a:r>
            <a:r>
              <a:rPr lang="en-US" sz="1070" dirty="0" err="1">
                <a:solidFill>
                  <a:srgbClr val="231076"/>
                </a:solidFill>
                <a:latin typeface="Poppins Bold" panose="020B0604020202020204" charset="0"/>
                <a:ea typeface="Poppins"/>
                <a:cs typeface="Poppins Bold" panose="020B0604020202020204" charset="0"/>
                <a:sym typeface="Poppins Bold"/>
              </a:rPr>
              <a:t>terminar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y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abrirá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el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</a:t>
            </a:r>
            <a:r>
              <a:rPr lang="en-US" sz="1070" dirty="0" err="1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programa</a:t>
            </a:r>
            <a:r>
              <a:rPr lang="en-US" sz="1070" dirty="0">
                <a:solidFill>
                  <a:srgbClr val="23107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.</a:t>
            </a: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1058BACE-1DE2-4ACE-8055-A34112A06842}"/>
              </a:ext>
            </a:extLst>
          </p:cNvPr>
          <p:cNvSpPr txBox="1"/>
          <p:nvPr/>
        </p:nvSpPr>
        <p:spPr>
          <a:xfrm rot="16200000">
            <a:off x="2561924" y="5693569"/>
            <a:ext cx="2432651" cy="75798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5919" tIns="35919" rIns="35919" bIns="35919" rtlCol="0" anchor="ctr"/>
          <a:lstStyle/>
          <a:p>
            <a:pPr algn="ctr">
              <a:lnSpc>
                <a:spcPts val="1207"/>
              </a:lnSpc>
            </a:pPr>
            <a:endParaRPr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48FBED8B-351D-4CED-9B79-ABFE6168893B}"/>
              </a:ext>
            </a:extLst>
          </p:cNvPr>
          <p:cNvPicPr/>
          <p:nvPr/>
        </p:nvPicPr>
        <p:blipFill rotWithShape="1">
          <a:blip r:embed="rId6"/>
          <a:srcRect t="-94" r="1837"/>
          <a:stretch/>
        </p:blipFill>
        <p:spPr>
          <a:xfrm>
            <a:off x="53199" y="8415931"/>
            <a:ext cx="2322711" cy="1981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7ED75C9D-D150-4383-9CD8-962064A7B306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430002" y="8403728"/>
            <a:ext cx="2180193" cy="18346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5131D45C-C050-4BC7-8A13-A10F9112395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4699859" y="8403728"/>
            <a:ext cx="2797689" cy="19812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C6249C60-57E9-493F-A887-1B4A6374D1BF}"/>
              </a:ext>
            </a:extLst>
          </p:cNvPr>
          <p:cNvSpPr/>
          <p:nvPr/>
        </p:nvSpPr>
        <p:spPr>
          <a:xfrm>
            <a:off x="206258" y="9133258"/>
            <a:ext cx="1470142" cy="387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933972F-FFF2-4924-B7C9-776A4CFD4808}"/>
              </a:ext>
            </a:extLst>
          </p:cNvPr>
          <p:cNvSpPr/>
          <p:nvPr/>
        </p:nvSpPr>
        <p:spPr>
          <a:xfrm>
            <a:off x="2528969" y="9397503"/>
            <a:ext cx="1935081" cy="2387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0709332E-3119-44BA-A479-34347E8E0BC0}"/>
              </a:ext>
            </a:extLst>
          </p:cNvPr>
          <p:cNvSpPr/>
          <p:nvPr/>
        </p:nvSpPr>
        <p:spPr>
          <a:xfrm>
            <a:off x="5683250" y="9219161"/>
            <a:ext cx="533400" cy="264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0951A924-89AF-4793-8570-6C5C1C785B8B}"/>
              </a:ext>
            </a:extLst>
          </p:cNvPr>
          <p:cNvSpPr/>
          <p:nvPr/>
        </p:nvSpPr>
        <p:spPr>
          <a:xfrm>
            <a:off x="6480588" y="10129619"/>
            <a:ext cx="477686" cy="217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64" name="Group 18">
            <a:extLst>
              <a:ext uri="{FF2B5EF4-FFF2-40B4-BE49-F238E27FC236}">
                <a16:creationId xmlns:a16="http://schemas.microsoft.com/office/drawing/2014/main" id="{8106015E-CB55-4AF6-B89D-05FFB8BCBD2E}"/>
              </a:ext>
            </a:extLst>
          </p:cNvPr>
          <p:cNvGrpSpPr/>
          <p:nvPr/>
        </p:nvGrpSpPr>
        <p:grpSpPr>
          <a:xfrm>
            <a:off x="2032981" y="8362876"/>
            <a:ext cx="342929" cy="312367"/>
            <a:chOff x="0" y="0"/>
            <a:chExt cx="812800" cy="812800"/>
          </a:xfrm>
        </p:grpSpPr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E52B2FD9-2513-4097-8F2C-D22EA6397F9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72" name="TextBox 20">
              <a:extLst>
                <a:ext uri="{FF2B5EF4-FFF2-40B4-BE49-F238E27FC236}">
                  <a16:creationId xmlns:a16="http://schemas.microsoft.com/office/drawing/2014/main" id="{9F7ABF90-4B4D-47FB-90C2-B50CC459AFDA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 dirty="0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1</a:t>
              </a:r>
            </a:p>
          </p:txBody>
        </p:sp>
      </p:grpSp>
      <p:grpSp>
        <p:nvGrpSpPr>
          <p:cNvPr id="73" name="Group 18">
            <a:extLst>
              <a:ext uri="{FF2B5EF4-FFF2-40B4-BE49-F238E27FC236}">
                <a16:creationId xmlns:a16="http://schemas.microsoft.com/office/drawing/2014/main" id="{50ACDAD3-B4EE-407F-875A-AB20926C941A}"/>
              </a:ext>
            </a:extLst>
          </p:cNvPr>
          <p:cNvGrpSpPr/>
          <p:nvPr/>
        </p:nvGrpSpPr>
        <p:grpSpPr>
          <a:xfrm>
            <a:off x="4311689" y="8333592"/>
            <a:ext cx="342929" cy="312367"/>
            <a:chOff x="0" y="0"/>
            <a:chExt cx="812800" cy="812800"/>
          </a:xfrm>
        </p:grpSpPr>
        <p:sp>
          <p:nvSpPr>
            <p:cNvPr id="74" name="Freeform 19">
              <a:extLst>
                <a:ext uri="{FF2B5EF4-FFF2-40B4-BE49-F238E27FC236}">
                  <a16:creationId xmlns:a16="http://schemas.microsoft.com/office/drawing/2014/main" id="{886BB60E-D2CC-456D-9834-8B103592B0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75" name="TextBox 20">
              <a:extLst>
                <a:ext uri="{FF2B5EF4-FFF2-40B4-BE49-F238E27FC236}">
                  <a16:creationId xmlns:a16="http://schemas.microsoft.com/office/drawing/2014/main" id="{7916F42A-F844-4C01-8934-855C83C57BF4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 dirty="0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2</a:t>
              </a:r>
            </a:p>
          </p:txBody>
        </p:sp>
      </p:grpSp>
      <p:grpSp>
        <p:nvGrpSpPr>
          <p:cNvPr id="76" name="Group 18">
            <a:extLst>
              <a:ext uri="{FF2B5EF4-FFF2-40B4-BE49-F238E27FC236}">
                <a16:creationId xmlns:a16="http://schemas.microsoft.com/office/drawing/2014/main" id="{F2654160-8575-4283-AED3-85E6D7F7D1E3}"/>
              </a:ext>
            </a:extLst>
          </p:cNvPr>
          <p:cNvGrpSpPr/>
          <p:nvPr/>
        </p:nvGrpSpPr>
        <p:grpSpPr>
          <a:xfrm>
            <a:off x="7157366" y="8330148"/>
            <a:ext cx="342929" cy="312367"/>
            <a:chOff x="0" y="0"/>
            <a:chExt cx="812800" cy="812800"/>
          </a:xfrm>
        </p:grpSpPr>
        <p:sp>
          <p:nvSpPr>
            <p:cNvPr id="77" name="Freeform 19">
              <a:extLst>
                <a:ext uri="{FF2B5EF4-FFF2-40B4-BE49-F238E27FC236}">
                  <a16:creationId xmlns:a16="http://schemas.microsoft.com/office/drawing/2014/main" id="{A9FA4DCE-F088-4254-A67B-568EECBE1A8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257E"/>
            </a:solidFill>
          </p:spPr>
        </p:sp>
        <p:sp>
          <p:nvSpPr>
            <p:cNvPr id="78" name="TextBox 20">
              <a:extLst>
                <a:ext uri="{FF2B5EF4-FFF2-40B4-BE49-F238E27FC236}">
                  <a16:creationId xmlns:a16="http://schemas.microsoft.com/office/drawing/2014/main" id="{01C1B422-B4B9-45CB-B22D-16D237118BBA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5"/>
                </a:lnSpc>
              </a:pPr>
              <a:r>
                <a:rPr lang="en-US" sz="1389" i="1" dirty="0">
                  <a:solidFill>
                    <a:srgbClr val="FFFFFF"/>
                  </a:solidFill>
                  <a:latin typeface="Atkinson Hyperlegible Italics"/>
                  <a:ea typeface="Atkinson Hyperlegible Italics"/>
                  <a:cs typeface="Atkinson Hyperlegible Italics"/>
                  <a:sym typeface="Atkinson Hyperlegible Italics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7483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1588</Words>
  <Application>Microsoft Office PowerPoint</Application>
  <PresentationFormat>Personalizado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Poppins Bold</vt:lpstr>
      <vt:lpstr>Atkinson Hyperlegible Bold</vt:lpstr>
      <vt:lpstr>Arial</vt:lpstr>
      <vt:lpstr>Poppins Italics</vt:lpstr>
      <vt:lpstr>Poppins</vt:lpstr>
      <vt:lpstr>Atkinson Hyperlegible Italics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Professional Training Manual Bound Document</dc:title>
  <dc:creator>Kevin Iván Mejía Nicolas</dc:creator>
  <cp:lastModifiedBy>Kevin Iván Mejía Nicolas</cp:lastModifiedBy>
  <cp:revision>16</cp:revision>
  <dcterms:created xsi:type="dcterms:W3CDTF">2006-08-16T00:00:00Z</dcterms:created>
  <dcterms:modified xsi:type="dcterms:W3CDTF">2026-01-06T17:57:02Z</dcterms:modified>
  <dc:identifier>DAG9kEKDZ0Q</dc:identifier>
</cp:coreProperties>
</file>